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5" r:id="rId7"/>
    <p:sldId id="261" r:id="rId8"/>
    <p:sldId id="262" r:id="rId9"/>
    <p:sldId id="264" r:id="rId10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lko tytuł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Białe okręgi na czarnym tle&#10;&#10;Automatycznie generowany opis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865" y="1"/>
            <a:ext cx="8916134" cy="6867457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4390" y="1295400"/>
            <a:ext cx="10289680" cy="388620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390" y="5600700"/>
            <a:ext cx="10289680" cy="533400"/>
          </a:xfrm>
        </p:spPr>
        <p:txBody>
          <a:bodyPr rtlCol="0"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3" name="Krzyż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/>
        </p:nvSpPr>
        <p:spPr>
          <a:xfrm>
            <a:off x="10978425" y="4987103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4" name="Krzyż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/>
        </p:nvSpPr>
        <p:spPr>
          <a:xfrm>
            <a:off x="10121360" y="35814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427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13" name="Dowolny kształt: Kształt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/>
        </p:nvSpPr>
        <p:spPr>
          <a:xfrm>
            <a:off x="-1" y="1586"/>
            <a:ext cx="3429101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sz="1800" dirty="0"/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270" y="723900"/>
            <a:ext cx="4115872" cy="5295900"/>
          </a:xfrm>
        </p:spPr>
        <p:txBody>
          <a:bodyPr rtlCol="0"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934418" y="1981201"/>
            <a:ext cx="4115872" cy="2854781"/>
          </a:xfrm>
        </p:spPr>
        <p:txBody>
          <a:bodyPr rtlCol="0"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14" name="Krzyż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/>
        </p:nvSpPr>
        <p:spPr>
          <a:xfrm>
            <a:off x="4838769" y="9144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15" name="Krzyż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/>
        </p:nvSpPr>
        <p:spPr>
          <a:xfrm>
            <a:off x="3086110" y="569595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2" name="Klamra otwierająca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9022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 z obrazem telefo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w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/>
        </p:nvSpPr>
        <p:spPr>
          <a:xfrm>
            <a:off x="6705759" y="1148419"/>
            <a:ext cx="4562353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4015" y="598170"/>
            <a:ext cx="3097028" cy="5661660"/>
          </a:xfrm>
          <a:prstGeom prst="rect">
            <a:avLst/>
          </a:prstGeom>
        </p:spPr>
      </p:pic>
      <p:sp>
        <p:nvSpPr>
          <p:cNvPr id="9" name="Krzyż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/>
        </p:nvSpPr>
        <p:spPr>
          <a:xfrm>
            <a:off x="10821630" y="5353077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11" name="Krzyż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/>
        </p:nvSpPr>
        <p:spPr>
          <a:xfrm>
            <a:off x="6337560" y="805517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0" y="685800"/>
            <a:ext cx="6374478" cy="403860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5" name="Tekst — symbol zastępczy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171" y="4876800"/>
            <a:ext cx="6374477" cy="1104898"/>
          </a:xfrm>
        </p:spPr>
        <p:txBody>
          <a:bodyPr rtlCol="0"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16" name="Symbol zastępczy obrazu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7069" y="883472"/>
            <a:ext cx="2439731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/>
              <a:t>Kliknij ikonę, aby dodać obraz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1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+ Podtytu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w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/>
        </p:nvSpPr>
        <p:spPr>
          <a:xfrm>
            <a:off x="3275865" y="609600"/>
            <a:ext cx="5640269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8" name="Klamra otwierająca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50" y="495300"/>
            <a:ext cx="4573191" cy="5867400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Tekst — symbol zastępczy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70069" y="2022021"/>
            <a:ext cx="4444570" cy="2813960"/>
          </a:xfrm>
        </p:spPr>
        <p:txBody>
          <a:bodyPr rtlCol="0"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98321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zawartoś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9" name="Krzyż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/>
        </p:nvSpPr>
        <p:spPr>
          <a:xfrm>
            <a:off x="8153935" y="567055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10" name="Numer slajdu — symbol zastępczy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43" name="Stopka — symbol zastępczy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14" name="Data — symbol zastępczy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42672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15" name="Krzyż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/>
        </p:nvSpPr>
        <p:spPr>
          <a:xfrm>
            <a:off x="7353627" y="44196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5" name="Dowolny kształt: Kształt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/>
        </p:nvSpPr>
        <p:spPr>
          <a:xfrm>
            <a:off x="8611255" y="-21999"/>
            <a:ext cx="3580744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310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i zawartość z monitorem komputer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w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/>
        </p:nvSpPr>
        <p:spPr>
          <a:xfrm>
            <a:off x="6705758" y="838202"/>
            <a:ext cx="503050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pic>
        <p:nvPicPr>
          <p:cNvPr id="15" name="Grafika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868" y="1752600"/>
            <a:ext cx="4952356" cy="3810000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Numer slajdu — symbol zastępczy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17" name="Stopka — symbol zastępczy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6" name="Data — symbol zastępczy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7" name="Symbol zastępczy obrazu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7781" y="2057400"/>
            <a:ext cx="4344531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/>
              <a:t>Kliknij ikonę, aby dodać obraz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091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ział sekcj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1" y="685800"/>
            <a:ext cx="5688817" cy="528873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Krzyż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/>
        </p:nvSpPr>
        <p:spPr>
          <a:xfrm>
            <a:off x="7132006" y="3969437"/>
            <a:ext cx="640829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6638" y="533400"/>
            <a:ext cx="5055362" cy="5588000"/>
          </a:xfrm>
          <a:prstGeom prst="rect">
            <a:avLst/>
          </a:prstGeom>
        </p:spPr>
      </p:pic>
      <p:sp>
        <p:nvSpPr>
          <p:cNvPr id="6" name="Krzyż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/>
        </p:nvSpPr>
        <p:spPr>
          <a:xfrm>
            <a:off x="6369810" y="2407337"/>
            <a:ext cx="640829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10" name="Symbol zastępczy obrazu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1860" y="990601"/>
            <a:ext cx="407014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/>
              <a:t>Kliknij ikonę, aby dodać obraz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416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a elementy zawartości z akcente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w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/>
        </p:nvSpPr>
        <p:spPr>
          <a:xfrm>
            <a:off x="6362771" y="1317171"/>
            <a:ext cx="503050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Numer slajdu — symbol zastępczy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17" name="Stopka — symbol zastępczy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6" name="Data — symbol zastępczy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 rtlCol="0"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13" name="Zawartość — symbol zastępczy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2286000"/>
            <a:ext cx="5564049" cy="396240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"/>
          </a:p>
        </p:txBody>
      </p:sp>
    </p:spTree>
    <p:extLst>
      <p:ext uri="{BB962C8B-B14F-4D97-AF65-F5344CB8AC3E}">
        <p14:creationId xmlns:p14="http://schemas.microsoft.com/office/powerpoint/2010/main" val="89278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i tabel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Numer slajdu — symbol zastępczy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17" name="Stopka — symbol zastępczy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6" name="Data — symbol zastępczy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9" name="Tabela — symbol zastępczy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6000" y="2286000"/>
            <a:ext cx="5560242" cy="3962400"/>
          </a:xfrm>
        </p:spPr>
        <p:txBody>
          <a:bodyPr rtlCol="0"/>
          <a:lstStyle>
            <a:lvl1pPr marL="45720" indent="0">
              <a:buNone/>
              <a:defRPr/>
            </a:lvl1pPr>
          </a:lstStyle>
          <a:p>
            <a:pPr rtl="0"/>
            <a:r>
              <a:rPr lang="pl-PL"/>
              <a:t>Kliknij ikonę, aby dodać tabelę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2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olny kształt: Kształt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/>
        </p:nvSpPr>
        <p:spPr>
          <a:xfrm>
            <a:off x="7027874" y="0"/>
            <a:ext cx="4462496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Stopka — symbol zastępczy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8" name="Data — symbol zastępczy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4" name="Tabela — symbol zastępczy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4148" y="2743200"/>
            <a:ext cx="10137241" cy="35052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l-PL"/>
              <a:t>Kliknij ikonę, aby dodać tabelę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28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a elementy zawartości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olny kształt: Kształt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/>
        </p:nvSpPr>
        <p:spPr>
          <a:xfrm>
            <a:off x="7027874" y="0"/>
            <a:ext cx="4462496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6" name="Krzyż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/>
        </p:nvSpPr>
        <p:spPr>
          <a:xfrm>
            <a:off x="6684884" y="13970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7" name="Krzyż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/>
        </p:nvSpPr>
        <p:spPr>
          <a:xfrm>
            <a:off x="11088400" y="56388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Stopka — symbol zastępczy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14" name="Data — symbol zastępczy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2438401"/>
            <a:ext cx="4913004" cy="4114799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13" name="Zawartość — symbol zastępczy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8387" y="2438401"/>
            <a:ext cx="4913004" cy="4114799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678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a elementy zawartości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olny kształt: Kształt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/>
        </p:nvSpPr>
        <p:spPr>
          <a:xfrm>
            <a:off x="9960752" y="0"/>
            <a:ext cx="2231247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sz="1800" dirty="0"/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3" name="Krzyż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/>
        </p:nvSpPr>
        <p:spPr>
          <a:xfrm>
            <a:off x="7849056" y="3810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5" name="Krzyż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/>
        </p:nvSpPr>
        <p:spPr>
          <a:xfrm>
            <a:off x="8561914" y="10668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sz="1800" dirty="0"/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  <p:sp>
        <p:nvSpPr>
          <p:cNvPr id="25" name="Stopka — symbol zastępczy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14" name="Data — symbol zastępczy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2286000"/>
            <a:ext cx="4913004" cy="42672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  <p:sp>
        <p:nvSpPr>
          <p:cNvPr id="13" name="Zawartość — symbol zastępczy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8387" y="2286000"/>
            <a:ext cx="4913004" cy="4267200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5708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kończenie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olny kształt: Kształt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/>
        </p:nvSpPr>
        <p:spPr>
          <a:xfrm>
            <a:off x="2132567" y="0"/>
            <a:ext cx="7926864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sz="1800" dirty="0"/>
          </a:p>
        </p:txBody>
      </p:sp>
      <p:sp>
        <p:nvSpPr>
          <p:cNvPr id="8" name="Klamra otwierająca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sz="1800" dirty="0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50" y="495300"/>
            <a:ext cx="4573191" cy="5867400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pPr rtl="0"/>
            <a:r>
              <a:rPr lang="pl-PL"/>
              <a:t>Kliknij, aby edytować styl</a:t>
            </a:r>
            <a:endParaRPr dirty="0"/>
          </a:p>
        </p:txBody>
      </p:sp>
      <p:sp>
        <p:nvSpPr>
          <p:cNvPr id="4" name="Tekst — symbol zastępczy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70069" y="2247900"/>
            <a:ext cx="4444570" cy="2400300"/>
          </a:xfrm>
        </p:spPr>
        <p:txBody>
          <a:bodyPr rtlCol="0"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903692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6EFE61-2FAB-A9F1-3120-94130CAF4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6B1400-DF62-D4E6-D70E-4F830694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FFFB8D-9A8C-1B7E-7662-1E4E18F2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66910B-A21C-70B8-1860-6CC13E04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65737E-8C05-A920-CA58-1C84DFAE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935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 bwMode="auto">
          <a:xfrm>
            <a:off x="1065490" y="533400"/>
            <a:ext cx="8689064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"/>
              <a:t>Kliknij, aby edytować styl wzorca tytułu</a:t>
            </a:r>
            <a:endParaRPr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065490" y="1828800"/>
            <a:ext cx="8689064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1065491" y="6155268"/>
            <a:ext cx="565456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pl-PL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6934418" y="6155268"/>
            <a:ext cx="137195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E051EEA-9FC8-43D5-9A8C-FAAAF320FB38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8535035" y="6155268"/>
            <a:ext cx="121951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8B23F3D-FB55-41D7-A192-13E79E84DE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046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C4A27CA-5A67-527A-8120-B292DFFAF7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390" y="577516"/>
            <a:ext cx="10289680" cy="5556584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ts val="1320"/>
              </a:lnSpc>
            </a:pPr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Katedra Informatyki</a:t>
            </a:r>
          </a:p>
          <a:p>
            <a:pPr algn="ctr">
              <a:lnSpc>
                <a:spcPts val="1320"/>
              </a:lnSpc>
            </a:pPr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Wydział Informatyki i Matematyki</a:t>
            </a:r>
          </a:p>
          <a:p>
            <a:pPr algn="ctr">
              <a:lnSpc>
                <a:spcPts val="1320"/>
              </a:lnSpc>
            </a:pPr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Politechnika Krakowska</a:t>
            </a:r>
          </a:p>
          <a:p>
            <a:pPr algn="ctr"/>
            <a:endParaRPr lang="pl-PL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pl-PL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Aplikacja do głosowanie elektronicznego</a:t>
            </a:r>
          </a:p>
          <a:p>
            <a:pPr algn="ctr"/>
            <a:r>
              <a:rPr lang="pl-PL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 wykorzystaniem technologii </a:t>
            </a:r>
            <a:r>
              <a:rPr lang="pl-PL" sz="28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blockchain</a:t>
            </a:r>
            <a:endParaRPr lang="pl-PL" sz="28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pl-PL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Wiktor Zmiendak</a:t>
            </a:r>
          </a:p>
          <a:p>
            <a:pPr algn="ctr"/>
            <a:endParaRPr lang="pl-PL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Promotor: Dr Marcin </a:t>
            </a:r>
            <a:r>
              <a:rPr lang="pl-PL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Wątorek</a:t>
            </a:r>
            <a:endParaRPr lang="pl-PL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pl-PL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pl-PL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Kraków 2025</a:t>
            </a:r>
            <a:endParaRPr lang="en-US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655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C173-B103-3E26-C8A4-2E5485CC6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F79ACC7-93CA-3D1F-D38F-C318C2C6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50" y="512064"/>
            <a:ext cx="5508987" cy="676656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Cel i zakres pracy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D06E0B-412B-B548-8485-E9EDD266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147" y="1608221"/>
            <a:ext cx="4573191" cy="3962400"/>
          </a:xfrm>
        </p:spPr>
        <p:txBody>
          <a:bodyPr>
            <a:normAutofit/>
          </a:bodyPr>
          <a:lstStyle/>
          <a:p>
            <a:r>
              <a:rPr lang="pl-PL" dirty="0"/>
              <a:t>Stworzenie w pełni funkcjonalnej aplikacji webowej</a:t>
            </a:r>
          </a:p>
          <a:p>
            <a:pPr marL="45720" indent="0">
              <a:buNone/>
            </a:pPr>
            <a:endParaRPr lang="pl-PL" dirty="0"/>
          </a:p>
          <a:p>
            <a:r>
              <a:rPr lang="pl-PL" dirty="0"/>
              <a:t>Stworzenie systemu do głosowania z wykorzystaniem bloku </a:t>
            </a:r>
            <a:r>
              <a:rPr lang="pl-PL" dirty="0" err="1"/>
              <a:t>etherium</a:t>
            </a:r>
            <a:endParaRPr lang="pl-PL" dirty="0"/>
          </a:p>
          <a:p>
            <a:pPr marL="45720" indent="0">
              <a:buNone/>
            </a:pPr>
            <a:endParaRPr lang="pl-PL" dirty="0"/>
          </a:p>
          <a:p>
            <a:r>
              <a:rPr lang="pl-PL" dirty="0"/>
              <a:t>Pokazanie zalet i wad takiego rozwiązania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9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B3BE-EE7C-6854-1C77-3E072E17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2C5D11E-00D8-E542-825A-8F59CD17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400" y="561474"/>
            <a:ext cx="4288504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/>
              <a:t>Główne zagadnienia </a:t>
            </a:r>
            <a:br>
              <a:rPr lang="pl-PL" dirty="0"/>
            </a:br>
            <a:r>
              <a:rPr lang="pl-PL" dirty="0"/>
              <a:t>rozpatrywane w pracy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01D928-89A7-0ED5-300A-68B3D3147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1620253"/>
            <a:ext cx="4913004" cy="4114799"/>
          </a:xfrm>
        </p:spPr>
        <p:txBody>
          <a:bodyPr>
            <a:normAutofit lnSpcReduction="10000"/>
          </a:bodyPr>
          <a:lstStyle/>
          <a:p>
            <a:r>
              <a:rPr lang="pl-PL" dirty="0"/>
              <a:t>Technologia </a:t>
            </a:r>
            <a:r>
              <a:rPr lang="pl-PL" dirty="0" err="1"/>
              <a:t>blockchain</a:t>
            </a:r>
            <a:r>
              <a:rPr lang="pl-PL" dirty="0"/>
              <a:t> (szczególności </a:t>
            </a:r>
            <a:r>
              <a:rPr lang="pl-PL" dirty="0" err="1"/>
              <a:t>ethereum</a:t>
            </a:r>
            <a:r>
              <a:rPr lang="pl-PL" dirty="0"/>
              <a:t>)</a:t>
            </a:r>
          </a:p>
          <a:p>
            <a:pPr marL="45720" indent="0">
              <a:buNone/>
            </a:pPr>
            <a:endParaRPr lang="pl-PL" dirty="0"/>
          </a:p>
          <a:p>
            <a:r>
              <a:rPr lang="pl-PL" dirty="0"/>
              <a:t>Smart kontrakty</a:t>
            </a:r>
          </a:p>
          <a:p>
            <a:pPr marL="45720" indent="0">
              <a:buNone/>
            </a:pPr>
            <a:endParaRPr lang="pl-PL" dirty="0"/>
          </a:p>
          <a:p>
            <a:r>
              <a:rPr lang="pl-PL" dirty="0" err="1"/>
              <a:t>Autentykalność</a:t>
            </a:r>
            <a:r>
              <a:rPr lang="pl-PL" dirty="0"/>
              <a:t> i integralność głosu</a:t>
            </a:r>
          </a:p>
          <a:p>
            <a:pPr marL="45720" indent="0">
              <a:buNone/>
            </a:pPr>
            <a:endParaRPr lang="pl-PL" dirty="0"/>
          </a:p>
          <a:p>
            <a:r>
              <a:rPr lang="pl-PL" dirty="0"/>
              <a:t>Kryptografia i mechanizmy bezpieczeństwa</a:t>
            </a:r>
          </a:p>
          <a:p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84B7-F8A5-B9CF-0B48-D6C32981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E171F7F-B7EB-9220-EA1A-0C691895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704" y="1849976"/>
            <a:ext cx="4457426" cy="609600"/>
          </a:xfrm>
        </p:spPr>
        <p:txBody>
          <a:bodyPr>
            <a:normAutofit/>
          </a:bodyPr>
          <a:lstStyle/>
          <a:p>
            <a:r>
              <a:rPr lang="pl-PL" dirty="0"/>
              <a:t>Podobne rozwiązania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3126423-F7D3-5D04-8794-785274E59B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13915" y="2761488"/>
            <a:ext cx="4913004" cy="2523744"/>
          </a:xfrm>
        </p:spPr>
        <p:txBody>
          <a:bodyPr/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 err="1"/>
              <a:t>Follow</a:t>
            </a:r>
            <a:r>
              <a:rPr lang="pl-PL" dirty="0"/>
              <a:t> My </a:t>
            </a:r>
            <a:r>
              <a:rPr lang="pl-PL" dirty="0" err="1"/>
              <a:t>Vote</a:t>
            </a: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Horizon </a:t>
            </a:r>
            <a:r>
              <a:rPr lang="pl-PL" dirty="0" err="1"/>
              <a:t>State</a:t>
            </a: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Helios </a:t>
            </a:r>
            <a:r>
              <a:rPr lang="pl-PL" dirty="0" err="1"/>
              <a:t>Voting</a:t>
            </a: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 Aplikacje typu </a:t>
            </a:r>
            <a:r>
              <a:rPr lang="pl-PL" dirty="0" err="1"/>
              <a:t>poll-maker</a:t>
            </a:r>
            <a:r>
              <a:rPr lang="pl-PL" dirty="0"/>
              <a:t>, </a:t>
            </a:r>
            <a:r>
              <a:rPr lang="pl-PL" dirty="0" err="1"/>
              <a:t>google</a:t>
            </a:r>
            <a:r>
              <a:rPr lang="pl-PL" dirty="0"/>
              <a:t> </a:t>
            </a:r>
            <a:r>
              <a:rPr lang="pl-PL" dirty="0" err="1"/>
              <a:t>forms</a:t>
            </a:r>
            <a:r>
              <a:rPr lang="pl-PL" dirty="0"/>
              <a:t>, </a:t>
            </a:r>
            <a:r>
              <a:rPr lang="pl-PL" dirty="0" err="1"/>
              <a:t>survio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60E218D-22FC-E8F7-BF4E-77A924EA66B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8387" y="2761488"/>
            <a:ext cx="4913004" cy="2112425"/>
          </a:xfrm>
        </p:spPr>
        <p:txBody>
          <a:bodyPr/>
          <a:lstStyle/>
          <a:p>
            <a:r>
              <a:rPr lang="pl-PL" dirty="0"/>
              <a:t>System generujący klucze prywatne</a:t>
            </a:r>
          </a:p>
          <a:p>
            <a:r>
              <a:rPr lang="pl-PL" dirty="0"/>
              <a:t>Głosujący nie musi się nigdzie logować</a:t>
            </a:r>
          </a:p>
          <a:p>
            <a:r>
              <a:rPr lang="pl-PL" dirty="0"/>
              <a:t>Głosujący nie płaci za „gaz”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0727F-A6BA-9591-2A9D-B6089559DB6A}"/>
              </a:ext>
            </a:extLst>
          </p:cNvPr>
          <p:cNvSpPr txBox="1">
            <a:spLocks/>
          </p:cNvSpPr>
          <p:nvPr/>
        </p:nvSpPr>
        <p:spPr bwMode="auto">
          <a:xfrm>
            <a:off x="6746176" y="1849976"/>
            <a:ext cx="4457426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Czym się wyróżniam?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07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A278-D5C1-FDEB-D232-51284D80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2EC0D49-37B2-B9EC-BB23-30E1BD67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317" y="438922"/>
            <a:ext cx="4916180" cy="542544"/>
          </a:xfrm>
        </p:spPr>
        <p:txBody>
          <a:bodyPr/>
          <a:lstStyle/>
          <a:p>
            <a:r>
              <a:rPr lang="pl-PL" dirty="0"/>
              <a:t>Aplikacja </a:t>
            </a:r>
            <a:r>
              <a:rPr lang="pl-PL" dirty="0" err="1"/>
              <a:t>EtherVote</a:t>
            </a:r>
            <a:endParaRPr lang="en-US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33B11B2-9B7B-75DE-6A73-69518B23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981466"/>
            <a:ext cx="5600356" cy="5199665"/>
          </a:xfrm>
          <a:prstGeom prst="rect">
            <a:avLst/>
          </a:prstGeom>
        </p:spPr>
      </p:pic>
      <p:pic>
        <p:nvPicPr>
          <p:cNvPr id="18" name="Symbol zastępczy obrazu 17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6FACF67E-893A-6E9C-AE59-B7C9BAFABC4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" b="5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7962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4898-27E6-A6E3-B186-1D4903A4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21AF8F81-1109-EAC7-0D24-4D85604C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92" y="681036"/>
            <a:ext cx="5339953" cy="5367911"/>
          </a:xfrm>
          <a:prstGeom prst="rect">
            <a:avLst/>
          </a:prstGeom>
        </p:spPr>
      </p:pic>
      <p:pic>
        <p:nvPicPr>
          <p:cNvPr id="14" name="Symbol zastępczy obrazu 1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4FBB1711-2FFD-0FC7-197F-431947EB4A5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7" r="109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6528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84B7-9F08-D969-E5F0-76E9C0AC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CCEDF81-A88D-717D-D0B7-E202DE3B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73" y="929640"/>
            <a:ext cx="4916180" cy="679704"/>
          </a:xfrm>
        </p:spPr>
        <p:txBody>
          <a:bodyPr/>
          <a:lstStyle/>
          <a:p>
            <a:r>
              <a:rPr lang="pl-PL" dirty="0"/>
              <a:t>Materiały i źródła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FFE4ED-BE29-1788-EDE8-174468818D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49" y="1889761"/>
            <a:ext cx="4913004" cy="2599943"/>
          </a:xfrm>
        </p:spPr>
        <p:txBody>
          <a:bodyPr/>
          <a:lstStyle/>
          <a:p>
            <a:r>
              <a:rPr lang="pl-PL" dirty="0"/>
              <a:t>Internet</a:t>
            </a:r>
          </a:p>
          <a:p>
            <a:r>
              <a:rPr lang="pl-PL" dirty="0"/>
              <a:t>Dokumentacja</a:t>
            </a:r>
          </a:p>
          <a:p>
            <a:r>
              <a:rPr lang="pl-PL" dirty="0"/>
              <a:t>Projekty open-</a:t>
            </a:r>
            <a:r>
              <a:rPr lang="pl-PL" dirty="0" err="1"/>
              <a:t>source</a:t>
            </a:r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6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5A92-EAD6-85CC-36EA-192C7A6D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1B486DB-FABC-A4FD-EF93-9C29E999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493" y="682752"/>
            <a:ext cx="4916180" cy="1447800"/>
          </a:xfrm>
        </p:spPr>
        <p:txBody>
          <a:bodyPr/>
          <a:lstStyle/>
          <a:p>
            <a:r>
              <a:rPr lang="pl-PL" dirty="0"/>
              <a:t>Zastosowania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F41B4CB-3357-0B09-7421-DC3713954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149" y="1645920"/>
            <a:ext cx="4573191" cy="4267200"/>
          </a:xfrm>
        </p:spPr>
        <p:txBody>
          <a:bodyPr>
            <a:normAutofit lnSpcReduction="10000"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Głosowania publiczne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Głosowania w szkołach i na uczelniach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Głosowania korporacyjne i biznesowe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pl-PL" dirty="0"/>
              <a:t>Wybory w organizacjach społecznych i stowarzyszeniach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6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0EAA-E7AB-801B-C12D-07C862F7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6D66BDE-F187-99B1-09D9-90FC9E7E0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70069" y="2247900"/>
            <a:ext cx="4444570" cy="2400300"/>
          </a:xfrm>
        </p:spPr>
        <p:txBody>
          <a:bodyPr>
            <a:norm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Dziękuję i zachęcam</a:t>
            </a:r>
          </a:p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do przyszłego </a:t>
            </a:r>
          </a:p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stosowania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18373"/>
      </p:ext>
    </p:extLst>
  </p:cSld>
  <p:clrMapOvr>
    <a:masterClrMapping/>
  </p:clrMapOvr>
</p:sld>
</file>

<file path=ppt/theme/theme1.xml><?xml version="1.0" encoding="utf-8"?>
<a:theme xmlns:a="http://schemas.openxmlformats.org/drawingml/2006/main" name="Niestandardowy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Slajdy dotyczące strategii biznesowej</Template>
  <TotalTime>1856</TotalTime>
  <Words>144</Words>
  <Application>Microsoft Office PowerPoint</Application>
  <PresentationFormat>Panoramiczny</PresentationFormat>
  <Paragraphs>51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Niestandardowy</vt:lpstr>
      <vt:lpstr>Prezentacja programu PowerPoint</vt:lpstr>
      <vt:lpstr>Cel i zakres pracy</vt:lpstr>
      <vt:lpstr>Główne zagadnienia  rozpatrywane w pracy</vt:lpstr>
      <vt:lpstr>Podobne rozwiązania</vt:lpstr>
      <vt:lpstr>Aplikacja EtherVote</vt:lpstr>
      <vt:lpstr>Prezentacja programu PowerPoint</vt:lpstr>
      <vt:lpstr>Materiały i źródła</vt:lpstr>
      <vt:lpstr>Zastosowania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Wiktor Zmiendak</dc:creator>
  <cp:lastModifiedBy>Wiktor Zmiendak</cp:lastModifiedBy>
  <cp:revision>5</cp:revision>
  <dcterms:created xsi:type="dcterms:W3CDTF">2025-10-22T16:27:05Z</dcterms:created>
  <dcterms:modified xsi:type="dcterms:W3CDTF">2025-11-14T11:27:04Z</dcterms:modified>
</cp:coreProperties>
</file>
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</p:sldIdLst>
  <p:sldSz cx="9144000" cy="6858000" type="screen4x3"/>
  <p:notesSz cx="7104063" cy="10234613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C7C7C7"/>
    <a:srgbClr val="C9C9C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l-PL" dirty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41303D80-DFB3-4C75-98EA-FCEDF393272A}" type="datetimeFigureOut">
              <a:rPr lang="pl-PL" smtClean="0"/>
              <a:t>11.11.2025</a:t>
            </a:fld>
            <a:endParaRPr lang="pl-PL" dirty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l-PL" dirty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467FAD0-9AF6-41FE-88B0-79578B23206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9268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89467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2C9B5-E460-8379-9E01-C6D8A5A8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AB1D3DF-65B0-180A-2B73-E88D3642C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F463134-32A0-19A1-BC87-42E3B33F8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0570F3D-68AD-C5C4-D4B1-500DA1409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73874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C919F-3FE2-E829-70BA-50DF7CE2E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289D480-7260-E8FA-34FE-A78FF221F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E498B37-1B1C-DC58-CB99-CDF2C0747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D22B8E4-2D11-AD49-A693-74D987BA7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87720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2A05-47FA-B644-3CBA-B2FBB9F56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A1D319F-C31D-36DF-3AAB-432961615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10676C5-F4AE-3188-4642-7D617E46A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638DD09-5461-7D5E-D9E7-E411C13B4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13648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023CD-57A3-FF52-3905-CC26DF6FB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537BCC0-7A1A-7BA2-4AED-6BB2690ED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450D5C9-EE5B-D8A1-F581-611D3E74E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48D3CEE-7845-3384-401F-789CA33B2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14530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B966-3141-7B9A-A644-78716E8F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83A0CF3-D817-E70E-39B7-4A54918A6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1234926-6DFE-B8BA-04EA-451B34490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3418614-ED2F-E493-43C8-EDAD2E513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30047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B83A-647B-E59C-BB89-8D7EADEE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D2FEB4E-25D0-66C9-3659-DE58D8662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6550813-FCA6-42B8-DCF5-4A5299084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F2D9799-CAA3-6764-A14E-126CD1448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72503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2D32-98D2-A6E8-3F1E-28D60E4D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68832A6-19BA-050D-718E-618ED5C42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4DF769F-CBD1-E2D9-6820-B2D3F47A5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797C559-CF52-D23A-F2FB-586CF04E9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74658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6551D-0057-25FA-19C8-FF3D5D901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D5AB538-045D-E102-15D5-75CDC0EF9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C24505D-0F2A-29B9-BE3C-B75986CB6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462CFD8-4FBD-E3B4-AE99-3E295A87F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10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14374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C8B8C-FA86-4666-9BCF-D35EF6337B53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06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0D07C-55D5-469F-AAB9-9ABBA0DEE382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290492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83E98-98E6-4169-8CB5-6D47E6A6290A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53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33D9-B25C-4930-9C3A-952EC0E84155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390135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567A-15FE-4CDF-82AA-C4E53BDE1E08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285430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CD56-91A7-4D17-9386-09FBC4AEEF06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131046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3991-FE41-4E53-8F2D-E22F96DA86B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412729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C3B6B7-153D-4E7C-9813-D77B87CBB6E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309904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42D0-249B-4588-810F-3F7823628C5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70053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0A5-3A18-41A8-BEA6-3EE646A7FD5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1874834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31BB-9991-4089-9A5E-62B4CF71555B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214091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D97CC2-6F83-4663-B0AA-F5C17EB78C95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38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8775" y="692696"/>
            <a:ext cx="8785225" cy="14700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pl-PL" altLang="pl-PL" sz="5400" b="1" dirty="0">
                <a:solidFill>
                  <a:schemeClr val="tx1"/>
                </a:solidFill>
              </a:rPr>
              <a:t>Przetwarzanie języka naturalnego</a:t>
            </a:r>
            <a:endParaRPr lang="pl-PL" altLang="pl-PL" sz="5400" b="1" i="1" dirty="0">
              <a:solidFill>
                <a:schemeClr val="tx1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691047" y="2708920"/>
            <a:ext cx="6120680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3200" kern="0" dirty="0">
                <a:latin typeface="+mn-lt"/>
                <a:cs typeface="+mn-cs"/>
              </a:rPr>
              <a:t>Laboratorium nr 6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pl-PL" sz="3200" kern="0" dirty="0">
              <a:latin typeface="+mn-lt"/>
              <a:cs typeface="+mn-cs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kern="0" dirty="0">
                <a:latin typeface="+mn-lt"/>
                <a:cs typeface="+mn-cs"/>
              </a:rPr>
              <a:t>Dr inż. Wojciech Książek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pl-PL" sz="3200" b="1" kern="0" dirty="0">
              <a:latin typeface="+mn-lt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47662" y="4749300"/>
            <a:ext cx="6408713" cy="12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Wydział Informatyki i Matematyki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Katedra Informatyki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Politechnika Krakowska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Kraków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Generowanie języka naturalnego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/>
          </a:bodyPr>
          <a:lstStyle/>
          <a:p>
            <a:r>
              <a:rPr lang="pl-PL" sz="2800" dirty="0"/>
              <a:t>- Jednym z najciekawszych zagadnień z dziedziny przetwarzania języka naturalnego jest jego generowanie</a:t>
            </a:r>
          </a:p>
          <a:p>
            <a:r>
              <a:rPr lang="pl-PL" sz="2800" dirty="0"/>
              <a:t>- W ramach tego laboratorium przejdziemy przez generowanie tekstu za pomocą </a:t>
            </a:r>
            <a:r>
              <a:rPr lang="pl-PL" sz="2800"/>
              <a:t>modelu n-gramowego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394365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2E66-AE0F-EA06-6B83-05F909CD1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D588C0-7137-B45B-8151-680D4B7E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Tworzenie tekstu z wykorzystaniem n-gramów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F9BC837-9124-B82D-0A7A-F7529398C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 fontScale="92500" lnSpcReduction="20000"/>
          </a:bodyPr>
          <a:lstStyle/>
          <a:p>
            <a:r>
              <a:rPr lang="pl-PL" sz="2800" dirty="0"/>
              <a:t>- Bierzemy ostatnie n-1 słów jako kontekst</a:t>
            </a:r>
          </a:p>
          <a:p>
            <a:r>
              <a:rPr lang="pl-PL" sz="2800" dirty="0"/>
              <a:t>- Model wskaże nam kolejne słowo bazując na prawdopodobieństwie. </a:t>
            </a:r>
          </a:p>
          <a:p>
            <a:r>
              <a:rPr lang="pl-PL" sz="2800" dirty="0"/>
              <a:t>Jeśli mamy sekwencje historyczną </a:t>
            </a:r>
          </a:p>
          <a:p>
            <a:r>
              <a:rPr lang="pl-PL" sz="2800" dirty="0"/>
              <a:t>Ala ma kota</a:t>
            </a:r>
          </a:p>
          <a:p>
            <a:r>
              <a:rPr lang="pl-PL" sz="2800" dirty="0"/>
              <a:t>To mając fragment Ala ma … - model wskaże słowo kota</a:t>
            </a:r>
          </a:p>
          <a:p>
            <a:r>
              <a:rPr lang="pl-PL" sz="2800" dirty="0"/>
              <a:t>- Pamiętajmy, że wchodzi tutaj prawdopodobieństwo - słowo jest losowane zgodnie z rozkładem prawdopodobieństwa, jaki model wyliczył dla danego kontekstu. Gdyby tak nie było model ciągle generował by ten sam tekst.</a:t>
            </a:r>
          </a:p>
        </p:txBody>
      </p:sp>
    </p:spTree>
    <p:extLst>
      <p:ext uri="{BB962C8B-B14F-4D97-AF65-F5344CB8AC3E}">
        <p14:creationId xmlns:p14="http://schemas.microsoft.com/office/powerpoint/2010/main" val="423354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B277-DFBD-02C4-1319-9569AA30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32DED3-0984-3B62-A881-2BBA44FFF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Model n-gramowy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0856BF56-58D6-B9A2-5D4A-3A373740A5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8321041" cy="40233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pl-PL" sz="2800" dirty="0"/>
                  <a:t>- Np. dla </a:t>
                </a:r>
                <a:r>
                  <a:rPr lang="pl-PL" sz="2800" dirty="0" err="1"/>
                  <a:t>trigramów</a:t>
                </a:r>
                <a:r>
                  <a:rPr lang="pl-PL" sz="2800" dirty="0"/>
                  <a:t> wygląda w ten sposób:</a:t>
                </a:r>
              </a:p>
              <a:p>
                <a:r>
                  <a:rPr lang="pl-PL" sz="2800" dirty="0"/>
                  <a:t>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800" dirty="0"/>
                  <a:t>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pl-PL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l-PL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l-PL" sz="2800" dirty="0"/>
                  <a:t>)</a:t>
                </a:r>
              </a:p>
              <a:p>
                <a:r>
                  <a:rPr lang="pl-PL" sz="2800" dirty="0"/>
                  <a:t>Czyli prawdopodobieństwo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800" dirty="0"/>
                  <a:t> gdy wcześniejsze słowa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pl-PL" sz="2800" dirty="0"/>
                  <a:t> oraz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pl-PL" sz="2800" dirty="0"/>
              </a:p>
              <a:p>
                <a:r>
                  <a:rPr lang="pl-PL" sz="2800" dirty="0"/>
                  <a:t>- Podczas trenowania takiego modelu liczy częstości występowania kombinacji n-gramów w korpusie, wylicza prawdopodobieństwa zliczając proporcje (MLE- czyli Maximum </a:t>
                </a:r>
                <a:r>
                  <a:rPr lang="pl-PL" sz="2800" dirty="0" err="1"/>
                  <a:t>Likelihood</a:t>
                </a:r>
                <a:r>
                  <a:rPr lang="pl-PL" sz="2800" dirty="0"/>
                  <a:t> </a:t>
                </a:r>
                <a:r>
                  <a:rPr lang="pl-PL" sz="2800" dirty="0" err="1"/>
                  <a:t>Estimation</a:t>
                </a:r>
                <a:r>
                  <a:rPr lang="pl-PL" sz="2800" dirty="0"/>
                  <a:t>)</a:t>
                </a:r>
              </a:p>
              <a:p>
                <a:r>
                  <a:rPr lang="pl-PL" sz="2800" dirty="0"/>
                  <a:t>- Jeśli dany kontekst nie istnieje (np. model nie zna "Ala ma"), używa </a:t>
                </a:r>
                <a:r>
                  <a:rPr lang="pl-PL" sz="2800" dirty="0" err="1"/>
                  <a:t>backoff</a:t>
                </a:r>
                <a:r>
                  <a:rPr lang="pl-PL" sz="2800" dirty="0"/>
                  <a:t>: przechodzi na niższy rząd modelu (np. </a:t>
                </a:r>
                <a:r>
                  <a:rPr lang="pl-PL" sz="2800" dirty="0" err="1"/>
                  <a:t>bigram</a:t>
                </a:r>
                <a:r>
                  <a:rPr lang="pl-PL" sz="2800" dirty="0"/>
                  <a:t>, </a:t>
                </a:r>
                <a:r>
                  <a:rPr lang="pl-PL" sz="2800" dirty="0" err="1"/>
                  <a:t>unigram</a:t>
                </a:r>
                <a:r>
                  <a:rPr lang="pl-PL" sz="2800" dirty="0"/>
                  <a:t>)</a:t>
                </a:r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0856BF56-58D6-B9A2-5D4A-3A373740A5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8321041" cy="4023360"/>
              </a:xfrm>
              <a:blipFill>
                <a:blip r:embed="rId3"/>
                <a:stretch>
                  <a:fillRect l="-1319" t="-3788" r="-3150" b="-1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8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89A3-B264-42CD-7CB5-459E60C4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978A714-B851-0FB0-923B-733482C1648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" y="1"/>
            <a:ext cx="9144000" cy="5868988"/>
          </a:xfrm>
        </p:spPr>
        <p:txBody>
          <a:bodyPr>
            <a:normAutofit/>
          </a:bodyPr>
          <a:lstStyle/>
          <a:p>
            <a:r>
              <a:rPr lang="pl-PL" sz="2800" dirty="0"/>
              <a:t>Mamy korpus:</a:t>
            </a:r>
          </a:p>
          <a:p>
            <a:r>
              <a:rPr lang="pl-PL" sz="2800" dirty="0"/>
              <a:t>Platon mieszkał w Atenach . Sokrates mieszkał w Atenach . Platon nauczał Arystotelesa .</a:t>
            </a:r>
          </a:p>
          <a:p>
            <a:endParaRPr lang="pl-PL" sz="2800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9C4D11E-06F2-225C-5C95-A1AB331FA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89128"/>
              </p:ext>
            </p:extLst>
          </p:nvPr>
        </p:nvGraphicFramePr>
        <p:xfrm>
          <a:off x="35496" y="1412776"/>
          <a:ext cx="7543800" cy="3291840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1960528268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3318585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 err="1"/>
                        <a:t>bigram</a:t>
                      </a:r>
                      <a:endParaRPr lang="pl-P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liczba wystąpień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80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(Platon, mieszkał)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204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(Platon, nauczał)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933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(Sokrates, mieszkał)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39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(mieszkał, 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257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(w, Atenach)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700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(Atenach, 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2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(nauczał, Arystotelesa)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618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(Arystotelesa, 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260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76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84744-A5D2-0BAB-22E8-61C713A70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0CCDF03-FD64-DE74-1C19-3F8F5C02E8C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" y="1"/>
            <a:ext cx="9144000" cy="5868988"/>
          </a:xfrm>
        </p:spPr>
        <p:txBody>
          <a:bodyPr>
            <a:normAutofit/>
          </a:bodyPr>
          <a:lstStyle/>
          <a:p>
            <a:r>
              <a:rPr lang="pl-PL" sz="2800" dirty="0"/>
              <a:t>Mamy korpus:</a:t>
            </a:r>
          </a:p>
          <a:p>
            <a:r>
              <a:rPr lang="pl-PL" sz="2800" dirty="0"/>
              <a:t>Platon mieszkał w Atenach . Sokrates mieszkał w Atenach . Platon nauczał Arystotelesa .</a:t>
            </a:r>
          </a:p>
          <a:p>
            <a:endParaRPr lang="pl-PL" sz="2800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B36EB82-8F8F-806E-CC6A-C2EEAB5ED2DF}"/>
              </a:ext>
            </a:extLst>
          </p:cNvPr>
          <p:cNvGraphicFramePr>
            <a:graphicFrameLocks noGrp="1"/>
          </p:cNvGraphicFramePr>
          <p:nvPr/>
        </p:nvGraphicFramePr>
        <p:xfrm>
          <a:off x="35496" y="1412776"/>
          <a:ext cx="7543800" cy="3291840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1960528268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3318585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 err="1"/>
                        <a:t>bigram</a:t>
                      </a:r>
                      <a:endParaRPr lang="pl-P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liczba wystąpień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80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(Platon, mieszkał)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204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(Platon, nauczał)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933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(Sokrates, mieszkał)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39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(mieszkał, 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257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(w, Atenach)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700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(Atenach, 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2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(nauczał, Arystotelesa)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618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(Arystotelesa, 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260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951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0417D-AF7B-EA22-414D-8BF80B32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ymbol zastępczy zawartości 1">
            <a:extLst>
              <a:ext uri="{FF2B5EF4-FFF2-40B4-BE49-F238E27FC236}">
                <a16:creationId xmlns:a16="http://schemas.microsoft.com/office/drawing/2014/main" id="{EF18B5CC-CBDB-FAA8-CA7C-128941D554D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84033952"/>
              </p:ext>
            </p:extLst>
          </p:nvPr>
        </p:nvGraphicFramePr>
        <p:xfrm>
          <a:off x="35496" y="137160"/>
          <a:ext cx="7543800" cy="3291840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217696703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67834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słowo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874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Platon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18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mieszkał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177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552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Atenach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304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12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Sokrates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011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nauczał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154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Arystotelesa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22956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AB483BF-C2D6-A27B-9F8C-0CDE3526325F}"/>
                  </a:ext>
                </a:extLst>
              </p:cNvPr>
              <p:cNvSpPr txBox="1"/>
              <p:nvPr/>
            </p:nvSpPr>
            <p:spPr>
              <a:xfrm>
                <a:off x="58432" y="3717032"/>
                <a:ext cx="8978064" cy="2473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pl-PL" b="1" dirty="0"/>
                  <a:t>P(w="</a:t>
                </a:r>
                <a:r>
                  <a:rPr lang="pl-PL" b="1" dirty="0" err="1"/>
                  <a:t>w"∣"mieszkał</a:t>
                </a:r>
                <a:r>
                  <a:rPr lang="pl-PL" b="1" dirty="0"/>
                  <a:t>") </a:t>
                </a:r>
                <a14:m>
                  <m:oMath xmlns:m="http://schemas.openxmlformats.org/officeDocument/2006/math">
                    <m:r>
                      <a:rPr lang="pl-PL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𝑐𝑜𝑢𝑛𝑡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"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𝑚𝑖𝑒𝑠𝑧𝑘𝑎</m:t>
                            </m:r>
                            <m:r>
                              <m:rPr>
                                <m:nor/>
                              </m:rPr>
                              <a:rPr lang="pl-PL" b="0" i="1">
                                <a:latin typeface="Cambria Math" panose="02040503050406030204" pitchFamily="18" charset="0"/>
                              </a:rPr>
                              <m:t>ł</m:t>
                            </m:r>
                            <m:r>
                              <a:rPr lang="pl-PL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pl-PL" b="0" i="0">
                                <a:latin typeface="Cambria Math" panose="02040503050406030204" pitchFamily="18" charset="0"/>
                              </a:rPr>
                              <m:t>"</m:t>
                            </m:r>
                          </m:e>
                        </m:d>
                      </m:num>
                      <m:den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𝑐𝑜𝑢𝑛𝑡</m:t>
                        </m:r>
                        <m:d>
                          <m:d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"</m:t>
                            </m:r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𝑚𝑖𝑒𝑠𝑧𝑘𝑎</m:t>
                            </m:r>
                            <m:r>
                              <m:rPr>
                                <m:nor/>
                              </m:rPr>
                              <a:rPr lang="pl-PL" b="0" i="1">
                                <a:latin typeface="Cambria Math" panose="02040503050406030204" pitchFamily="18" charset="0"/>
                              </a:rPr>
                              <m:t>ł</m:t>
                            </m:r>
                            <m:r>
                              <a:rPr lang="pl-PL" b="0" i="0">
                                <a:latin typeface="Cambria Math" panose="02040503050406030204" pitchFamily="18" charset="0"/>
                              </a:rPr>
                              <m:t>"</m:t>
                            </m:r>
                          </m:e>
                        </m:d>
                      </m:den>
                    </m:f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ar-AE" b="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pl-PL" b="0" i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pl-PL" b="0" i="0" smtClean="0">
                        <a:latin typeface="Cambria Math" panose="02040503050406030204" pitchFamily="18" charset="0"/>
                      </a:rPr>
                      <m:t>prawdopodobie</m:t>
                    </m:r>
                    <m:r>
                      <a:rPr lang="pl-PL" b="0" i="0" smtClean="0">
                        <a:latin typeface="Cambria Math" panose="02040503050406030204" pitchFamily="18" charset="0"/>
                      </a:rPr>
                      <m:t>ń</m:t>
                    </m:r>
                    <m:r>
                      <m:rPr>
                        <m:sty m:val="p"/>
                      </m:rPr>
                      <a:rPr lang="pl-PL" b="0" i="0" smtClean="0">
                        <a:latin typeface="Cambria Math" panose="02040503050406030204" pitchFamily="18" charset="0"/>
                      </a:rPr>
                      <m:t>stwo</m:t>
                    </m:r>
                    <m:r>
                      <a:rPr lang="pl-PL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l-PL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pl-PL" b="0" i="0" smtClean="0">
                        <a:latin typeface="Cambria Math" panose="02040503050406030204" pitchFamily="18" charset="0"/>
                      </a:rPr>
                      <m:t>ł</m:t>
                    </m:r>
                    <m:r>
                      <m:rPr>
                        <m:sty m:val="p"/>
                      </m:rPr>
                      <a:rPr lang="pl-PL" b="0" i="0" smtClean="0">
                        <a:latin typeface="Cambria Math" panose="02040503050406030204" pitchFamily="18" charset="0"/>
                      </a:rPr>
                      <m:t>owa</m:t>
                    </m:r>
                    <m:r>
                      <a:rPr lang="pl-PL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l-PL" b="0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m:rPr>
                        <m:nor/>
                      </m:rPr>
                      <a:rPr lang="pl-PL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pl-PL" b="0" i="0" smtClean="0">
                        <a:latin typeface="Cambria Math" panose="02040503050406030204" pitchFamily="18" charset="0"/>
                      </a:rPr>
                      <m:t>" </m:t>
                    </m:r>
                    <m:r>
                      <m:rPr>
                        <m:nor/>
                      </m:rPr>
                      <a:rPr lang="pl-PL" b="0" i="0" smtClean="0">
                        <a:latin typeface="Cambria Math" panose="02040503050406030204" pitchFamily="18" charset="0"/>
                      </a:rPr>
                      <m:t>po</m:t>
                    </m:r>
                    <m:r>
                      <m:rPr>
                        <m:nor/>
                      </m:rPr>
                      <a:rPr lang="pl-PL" b="0" i="0" smtClean="0">
                        <a:latin typeface="Cambria Math" panose="02040503050406030204" pitchFamily="18" charset="0"/>
                      </a:rPr>
                      <m:t> "</m:t>
                    </m:r>
                    <m:r>
                      <m:rPr>
                        <m:nor/>
                      </m:rPr>
                      <a:rPr lang="pl-PL" b="0" i="0" smtClean="0">
                        <a:latin typeface="Cambria Math" panose="02040503050406030204" pitchFamily="18" charset="0"/>
                      </a:rPr>
                      <m:t>mieszka</m:t>
                    </m:r>
                    <m:r>
                      <m:rPr>
                        <m:nor/>
                      </m:rPr>
                      <a:rPr lang="pl-PL" b="0" i="0" smtClean="0">
                        <a:latin typeface="Cambria Math" panose="02040503050406030204" pitchFamily="18" charset="0"/>
                      </a:rPr>
                      <m:t>ł" - </m:t>
                    </m:r>
                    <m:r>
                      <m:rPr>
                        <m:nor/>
                      </m:rPr>
                      <a:rPr lang="pl-PL" b="0" i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nor/>
                      </m:rPr>
                      <a:rPr lang="pl-PL" b="0" i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pl-PL" b="0" dirty="0"/>
              </a:p>
              <a:p>
                <a:pPr>
                  <a:buNone/>
                </a:pPr>
                <a:endParaRPr lang="pl-PL" dirty="0"/>
              </a:p>
              <a:p>
                <a:r>
                  <a:rPr lang="pl-PL" b="1" dirty="0"/>
                  <a:t>P(w="</a:t>
                </a:r>
                <a:r>
                  <a:rPr lang="pl-PL" b="1" dirty="0" err="1"/>
                  <a:t>nauczał"∣"Platon</a:t>
                </a:r>
                <a:r>
                  <a:rPr lang="pl-PL" b="1" dirty="0"/>
                  <a:t>") </a:t>
                </a:r>
                <a14:m>
                  <m:oMath xmlns:m="http://schemas.openxmlformats.org/officeDocument/2006/math">
                    <m:r>
                      <a:rPr lang="pl-PL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𝑐𝑜𝑢𝑛𝑡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/>
                              <m:t>"</m:t>
                            </m:r>
                            <m:r>
                              <a:rPr lang="ar-AE" i="1"/>
                              <m:t>𝑛𝑎𝑢𝑐𝑧𝑎</m:t>
                            </m:r>
                            <m:r>
                              <m:rPr>
                                <m:nor/>
                              </m:rPr>
                              <a:rPr lang="pl-PL" i="1"/>
                              <m:t>ł</m:t>
                            </m:r>
                            <m:r>
                              <a:rPr lang="pl-PL"/>
                              <m:t>"</m:t>
                            </m:r>
                          </m:e>
                        </m:d>
                      </m:num>
                      <m:den>
                        <m:r>
                          <a:rPr lang="ar-AE" i="1"/>
                          <m:t>𝑐𝑜𝑢𝑛𝑡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/>
                              <m:t>"</m:t>
                            </m:r>
                            <m:r>
                              <a:rPr lang="ar-AE" i="1"/>
                              <m:t>𝑃𝑙𝑎𝑡𝑜𝑛</m:t>
                            </m:r>
                            <m:r>
                              <a:rPr lang="ar-AE"/>
                              <m:t>"</m:t>
                            </m:r>
                          </m:e>
                        </m:d>
                      </m:den>
                    </m:f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2</m:t>
                        </m:r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  <m:r>
                      <a:rPr lang="ar-AE"/>
                      <m:t>.</m:t>
                    </m:r>
                    <m:r>
                      <a:rPr lang="ar-AE"/>
                      <m:t>5</m:t>
                    </m:r>
                  </m:oMath>
                </a14:m>
                <a:r>
                  <a:rPr lang="pl-PL" b="0" dirty="0"/>
                  <a:t> -&gt; prawdopodobieństwo słowa „nauczał” po „Platon” – 50%</a:t>
                </a:r>
                <a:endParaRPr lang="ar-AE" b="0" dirty="0"/>
              </a:p>
              <a:p>
                <a:pPr>
                  <a:buNone/>
                </a:pPr>
                <a:endParaRPr lang="pl-PL" dirty="0"/>
              </a:p>
              <a:p>
                <a:pPr>
                  <a:buNone/>
                </a:pPr>
                <a:endParaRPr lang="ar-AE" b="0" dirty="0"/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AB483BF-C2D6-A27B-9F8C-0CDE35263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2" y="3717032"/>
                <a:ext cx="8978064" cy="2473882"/>
              </a:xfrm>
              <a:prstGeom prst="rect">
                <a:avLst/>
              </a:prstGeom>
              <a:blipFill>
                <a:blip r:embed="rId3"/>
                <a:stretch>
                  <a:fillRect l="-61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6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43FFC-1D88-7E1E-D679-323EC1FB3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4BF8FE3D-FB92-7E31-6245-4134CE0C7892}"/>
              </a:ext>
            </a:extLst>
          </p:cNvPr>
          <p:cNvSpPr txBox="1"/>
          <p:nvPr/>
        </p:nvSpPr>
        <p:spPr>
          <a:xfrm>
            <a:off x="-2061" y="116632"/>
            <a:ext cx="903649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dirty="0">
                <a:effectLst/>
                <a:latin typeface="JetBrains Mono"/>
              </a:rPr>
              <a:t>from </a:t>
            </a:r>
            <a:r>
              <a:rPr lang="pl-PL" dirty="0" err="1">
                <a:effectLst/>
                <a:latin typeface="JetBrains Mono"/>
              </a:rPr>
              <a:t>nltk.lm</a:t>
            </a:r>
            <a:r>
              <a:rPr lang="pl-PL" dirty="0">
                <a:effectLst/>
                <a:latin typeface="JetBrains Mono"/>
              </a:rPr>
              <a:t> import MLE</a:t>
            </a:r>
            <a:br>
              <a:rPr lang="pl-PL" dirty="0">
                <a:effectLst/>
                <a:latin typeface="JetBrains Mono"/>
              </a:rPr>
            </a:br>
            <a:r>
              <a:rPr lang="pl-PL" dirty="0">
                <a:effectLst/>
                <a:latin typeface="JetBrains Mono"/>
              </a:rPr>
              <a:t>from </a:t>
            </a:r>
            <a:r>
              <a:rPr lang="pl-PL" dirty="0" err="1">
                <a:effectLst/>
                <a:latin typeface="JetBrains Mono"/>
              </a:rPr>
              <a:t>nltk.lm.preprocessing</a:t>
            </a:r>
            <a:r>
              <a:rPr lang="pl-PL" dirty="0">
                <a:effectLst/>
                <a:latin typeface="JetBrains Mono"/>
              </a:rPr>
              <a:t> import </a:t>
            </a:r>
            <a:r>
              <a:rPr lang="pl-PL" dirty="0" err="1">
                <a:effectLst/>
                <a:latin typeface="JetBrains Mono"/>
              </a:rPr>
              <a:t>padded_everygram_pipeline</a:t>
            </a:r>
            <a:br>
              <a:rPr lang="pl-PL" dirty="0">
                <a:effectLst/>
                <a:latin typeface="JetBrains Mono"/>
              </a:rPr>
            </a:br>
            <a:br>
              <a:rPr lang="pl-PL" dirty="0">
                <a:effectLst/>
                <a:latin typeface="JetBrains Mono"/>
              </a:rPr>
            </a:br>
            <a:r>
              <a:rPr lang="pl-PL" dirty="0">
                <a:effectLst/>
                <a:latin typeface="JetBrains Mono"/>
              </a:rPr>
              <a:t>korpus = [</a:t>
            </a:r>
            <a:br>
              <a:rPr lang="pl-PL" dirty="0">
                <a:effectLst/>
                <a:latin typeface="JetBrains Mono"/>
              </a:rPr>
            </a:br>
            <a:r>
              <a:rPr lang="pl-PL" dirty="0">
                <a:effectLst/>
                <a:latin typeface="JetBrains Mono"/>
              </a:rPr>
              <a:t>    ["Platon", "mieszkał", "w", "Atenach", "."],</a:t>
            </a:r>
            <a:br>
              <a:rPr lang="pl-PL" dirty="0">
                <a:effectLst/>
                <a:latin typeface="JetBrains Mono"/>
              </a:rPr>
            </a:br>
            <a:r>
              <a:rPr lang="pl-PL" dirty="0">
                <a:effectLst/>
                <a:latin typeface="JetBrains Mono"/>
              </a:rPr>
              <a:t>    ["Sokrates", "mieszkał", "w", "Atenach", "."],</a:t>
            </a:r>
            <a:br>
              <a:rPr lang="pl-PL" dirty="0">
                <a:effectLst/>
                <a:latin typeface="JetBrains Mono"/>
              </a:rPr>
            </a:br>
            <a:r>
              <a:rPr lang="pl-PL" dirty="0">
                <a:effectLst/>
                <a:latin typeface="JetBrains Mono"/>
              </a:rPr>
              <a:t>    ["Platon", "nauczał", "Arystotelesa", "."]</a:t>
            </a:r>
            <a:br>
              <a:rPr lang="pl-PL" dirty="0">
                <a:effectLst/>
                <a:latin typeface="JetBrains Mono"/>
              </a:rPr>
            </a:br>
            <a:r>
              <a:rPr lang="pl-PL" dirty="0">
                <a:effectLst/>
                <a:latin typeface="JetBrains Mono"/>
              </a:rPr>
              <a:t>]</a:t>
            </a:r>
            <a:br>
              <a:rPr lang="pl-PL" dirty="0">
                <a:effectLst/>
                <a:latin typeface="JetBrains Mono"/>
              </a:rPr>
            </a:br>
            <a:br>
              <a:rPr lang="pl-PL" dirty="0">
                <a:effectLst/>
                <a:latin typeface="JetBrains Mono"/>
              </a:rPr>
            </a:br>
            <a:r>
              <a:rPr lang="pl-PL" dirty="0">
                <a:effectLst/>
                <a:latin typeface="JetBrains Mono"/>
              </a:rPr>
              <a:t>n = 2</a:t>
            </a:r>
            <a:br>
              <a:rPr lang="pl-PL" dirty="0">
                <a:effectLst/>
                <a:latin typeface="JetBrains Mono"/>
              </a:rPr>
            </a:br>
            <a:r>
              <a:rPr lang="pl-PL" dirty="0" err="1">
                <a:effectLst/>
                <a:latin typeface="JetBrains Mono"/>
              </a:rPr>
              <a:t>train_data</a:t>
            </a:r>
            <a:r>
              <a:rPr lang="pl-PL" dirty="0">
                <a:effectLst/>
                <a:latin typeface="JetBrains Mono"/>
              </a:rPr>
              <a:t>, </a:t>
            </a:r>
            <a:r>
              <a:rPr lang="pl-PL" dirty="0" err="1">
                <a:effectLst/>
                <a:latin typeface="JetBrains Mono"/>
              </a:rPr>
              <a:t>vocab</a:t>
            </a:r>
            <a:r>
              <a:rPr lang="pl-PL" dirty="0">
                <a:effectLst/>
                <a:latin typeface="JetBrains Mono"/>
              </a:rPr>
              <a:t> = </a:t>
            </a:r>
            <a:r>
              <a:rPr lang="pl-PL" dirty="0" err="1">
                <a:effectLst/>
                <a:latin typeface="JetBrains Mono"/>
              </a:rPr>
              <a:t>padded_everygram_pipeline</a:t>
            </a:r>
            <a:r>
              <a:rPr lang="pl-PL" dirty="0">
                <a:effectLst/>
                <a:latin typeface="JetBrains Mono"/>
              </a:rPr>
              <a:t>(n, korpus)</a:t>
            </a:r>
            <a:br>
              <a:rPr lang="pl-PL" dirty="0">
                <a:effectLst/>
                <a:latin typeface="JetBrains Mono"/>
              </a:rPr>
            </a:br>
            <a:br>
              <a:rPr lang="pl-PL" dirty="0">
                <a:effectLst/>
                <a:latin typeface="JetBrains Mono"/>
              </a:rPr>
            </a:br>
            <a:r>
              <a:rPr lang="pl-PL" dirty="0">
                <a:effectLst/>
                <a:latin typeface="JetBrains Mono"/>
              </a:rPr>
              <a:t>model = MLE(n)</a:t>
            </a:r>
            <a:br>
              <a:rPr lang="pl-PL" dirty="0">
                <a:effectLst/>
                <a:latin typeface="JetBrains Mono"/>
              </a:rPr>
            </a:br>
            <a:r>
              <a:rPr lang="pl-PL" dirty="0" err="1">
                <a:effectLst/>
                <a:latin typeface="JetBrains Mono"/>
              </a:rPr>
              <a:t>model.fit</a:t>
            </a:r>
            <a:r>
              <a:rPr lang="pl-PL" dirty="0">
                <a:effectLst/>
                <a:latin typeface="JetBrains Mono"/>
              </a:rPr>
              <a:t>(</a:t>
            </a:r>
            <a:r>
              <a:rPr lang="pl-PL" dirty="0" err="1">
                <a:effectLst/>
                <a:latin typeface="JetBrains Mono"/>
              </a:rPr>
              <a:t>train_data</a:t>
            </a:r>
            <a:r>
              <a:rPr lang="pl-PL" dirty="0">
                <a:effectLst/>
                <a:latin typeface="JetBrains Mono"/>
              </a:rPr>
              <a:t>, </a:t>
            </a:r>
            <a:r>
              <a:rPr lang="pl-PL" dirty="0" err="1">
                <a:effectLst/>
                <a:latin typeface="JetBrains Mono"/>
              </a:rPr>
              <a:t>vocab</a:t>
            </a:r>
            <a:r>
              <a:rPr lang="pl-PL" dirty="0">
                <a:effectLst/>
                <a:latin typeface="JetBrains Mono"/>
              </a:rPr>
              <a:t>)</a:t>
            </a:r>
            <a:br>
              <a:rPr lang="pl-PL" dirty="0">
                <a:effectLst/>
                <a:latin typeface="JetBrains Mono"/>
              </a:rPr>
            </a:br>
            <a:br>
              <a:rPr lang="pl-PL" dirty="0">
                <a:effectLst/>
                <a:latin typeface="JetBrains Mono"/>
              </a:rPr>
            </a:br>
            <a:r>
              <a:rPr lang="pl-PL" dirty="0" err="1">
                <a:effectLst/>
                <a:latin typeface="JetBrains Mono"/>
              </a:rPr>
              <a:t>print</a:t>
            </a:r>
            <a:r>
              <a:rPr lang="pl-PL" dirty="0">
                <a:effectLst/>
                <a:latin typeface="JetBrains Mono"/>
              </a:rPr>
              <a:t>('P("w" | "mieszkał") =', </a:t>
            </a:r>
            <a:r>
              <a:rPr lang="pl-PL" dirty="0" err="1">
                <a:effectLst/>
                <a:latin typeface="JetBrains Mono"/>
              </a:rPr>
              <a:t>model.score</a:t>
            </a:r>
            <a:r>
              <a:rPr lang="pl-PL" dirty="0">
                <a:effectLst/>
                <a:latin typeface="JetBrains Mono"/>
              </a:rPr>
              <a:t>("w", ["mieszkał"]))</a:t>
            </a:r>
            <a:br>
              <a:rPr lang="pl-PL" dirty="0">
                <a:effectLst/>
                <a:latin typeface="JetBrains Mono"/>
              </a:rPr>
            </a:br>
            <a:r>
              <a:rPr lang="pl-PL" dirty="0" err="1">
                <a:effectLst/>
                <a:latin typeface="JetBrains Mono"/>
              </a:rPr>
              <a:t>print</a:t>
            </a:r>
            <a:r>
              <a:rPr lang="pl-PL" dirty="0">
                <a:effectLst/>
                <a:latin typeface="JetBrains Mono"/>
              </a:rPr>
              <a:t>('P("Atenach" | "w") =', </a:t>
            </a:r>
            <a:r>
              <a:rPr lang="pl-PL" dirty="0" err="1">
                <a:effectLst/>
                <a:latin typeface="JetBrains Mono"/>
              </a:rPr>
              <a:t>model.score</a:t>
            </a:r>
            <a:r>
              <a:rPr lang="pl-PL" dirty="0">
                <a:effectLst/>
                <a:latin typeface="JetBrains Mono"/>
              </a:rPr>
              <a:t>("Atenach", ["w"]))</a:t>
            </a:r>
            <a:br>
              <a:rPr lang="pl-PL" dirty="0">
                <a:effectLst/>
                <a:latin typeface="JetBrains Mono"/>
              </a:rPr>
            </a:br>
            <a:r>
              <a:rPr lang="pl-PL" dirty="0" err="1">
                <a:effectLst/>
                <a:latin typeface="JetBrains Mono"/>
              </a:rPr>
              <a:t>print</a:t>
            </a:r>
            <a:r>
              <a:rPr lang="pl-PL" dirty="0">
                <a:effectLst/>
                <a:latin typeface="JetBrains Mono"/>
              </a:rPr>
              <a:t>('P("mieszkał" | "Platon") =', </a:t>
            </a:r>
            <a:r>
              <a:rPr lang="pl-PL" dirty="0" err="1">
                <a:effectLst/>
                <a:latin typeface="JetBrains Mono"/>
              </a:rPr>
              <a:t>model.score</a:t>
            </a:r>
            <a:r>
              <a:rPr lang="pl-PL" dirty="0">
                <a:effectLst/>
                <a:latin typeface="JetBrains Mono"/>
              </a:rPr>
              <a:t>("mieszkał", ["Platon"]))</a:t>
            </a:r>
            <a:br>
              <a:rPr lang="pl-PL" dirty="0">
                <a:effectLst/>
                <a:latin typeface="JetBrains Mono"/>
              </a:rPr>
            </a:br>
            <a:r>
              <a:rPr lang="pl-PL" dirty="0" err="1">
                <a:effectLst/>
                <a:latin typeface="JetBrains Mono"/>
              </a:rPr>
              <a:t>print</a:t>
            </a:r>
            <a:r>
              <a:rPr lang="pl-PL" dirty="0">
                <a:effectLst/>
                <a:latin typeface="JetBrains Mono"/>
              </a:rPr>
              <a:t>('P("nauczał" | "Platon") =', </a:t>
            </a:r>
            <a:r>
              <a:rPr lang="pl-PL" dirty="0" err="1">
                <a:effectLst/>
                <a:latin typeface="JetBrains Mono"/>
              </a:rPr>
              <a:t>model.score</a:t>
            </a:r>
            <a:r>
              <a:rPr lang="pl-PL" dirty="0">
                <a:effectLst/>
                <a:latin typeface="JetBrains Mono"/>
              </a:rPr>
              <a:t>("nauczał", ["Platon"]))</a:t>
            </a:r>
          </a:p>
        </p:txBody>
      </p:sp>
    </p:spTree>
    <p:extLst>
      <p:ext uri="{BB962C8B-B14F-4D97-AF65-F5344CB8AC3E}">
        <p14:creationId xmlns:p14="http://schemas.microsoft.com/office/powerpoint/2010/main" val="388230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123C3-61DD-A61C-3CA6-28335664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637590-C49F-606E-3E58-C8D862AEA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Model n-gramowe - rodzaje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25CBCC6-92AB-3F5C-1FB2-3B84D61A24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8321041" cy="402336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pl-PL" sz="2800" dirty="0"/>
                  <a:t>- MLE - Maximum </a:t>
                </a:r>
                <a:r>
                  <a:rPr lang="pl-PL" sz="2800" dirty="0" err="1"/>
                  <a:t>Likelihood</a:t>
                </a:r>
                <a:r>
                  <a:rPr lang="pl-PL" sz="2800" dirty="0"/>
                  <a:t> </a:t>
                </a:r>
                <a:r>
                  <a:rPr lang="pl-PL" sz="2800" dirty="0" err="1"/>
                  <a:t>Estimation</a:t>
                </a:r>
                <a:endParaRPr lang="pl-PL" sz="2800" dirty="0"/>
              </a:p>
              <a:p>
                <a:r>
                  <a:rPr lang="pl-PL" sz="2800" dirty="0"/>
                  <a:t>- Laplace — </a:t>
                </a:r>
                <a:r>
                  <a:rPr lang="pl-PL" sz="2800" dirty="0" err="1"/>
                  <a:t>Add</a:t>
                </a:r>
                <a:r>
                  <a:rPr lang="pl-PL" sz="2800" dirty="0"/>
                  <a:t>-One </a:t>
                </a:r>
                <a:r>
                  <a:rPr lang="pl-PL" sz="2800" dirty="0" err="1"/>
                  <a:t>Smoothing</a:t>
                </a:r>
                <a:r>
                  <a:rPr lang="pl-PL" sz="2800" dirty="0"/>
                  <a:t> - Metoda Laplace’a (Add-1) dodaje do każdego n-</a:t>
                </a:r>
                <a:r>
                  <a:rPr lang="pl-PL" sz="2800" dirty="0" err="1"/>
                  <a:t>gramu</a:t>
                </a:r>
                <a:r>
                  <a:rPr lang="pl-PL" sz="2800" dirty="0"/>
                  <a:t> “fikcyjne jedno wystąpienie”.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𝐿𝑎𝑝𝑙𝑎𝑐𝑒</m:t>
                        </m:r>
                      </m:sub>
                    </m:sSub>
                    <m:d>
                      <m:dPr>
                        <m:ctrlPr>
                          <a:rPr lang="pl-PL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l-PL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𝑐𝑜𝑛𝑡𝑒𝑥𝑡</m:t>
                        </m:r>
                      </m:e>
                    </m:d>
                    <m:r>
                      <a:rPr lang="pl-PL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pl-PL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𝑐𝑜𝑢𝑛𝑡</m:t>
                        </m:r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𝑐𝑜𝑛𝑡𝑒𝑥𝑡</m:t>
                        </m:r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pl-PL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l-PL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𝑐𝑜𝑢𝑛𝑡</m:t>
                        </m:r>
                        <m:d>
                          <m:dPr>
                            <m:ctrlPr>
                              <a:rPr lang="pl-PL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800" b="0" i="1" smtClean="0">
                                <a:latin typeface="Cambria Math" panose="02040503050406030204" pitchFamily="18" charset="0"/>
                              </a:rPr>
                              <m:t>𝑐𝑜𝑛𝑡𝑒𝑥𝑡</m:t>
                            </m:r>
                          </m:e>
                        </m:d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l-PL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pl-PL" sz="2800" dirty="0"/>
                  <a:t>, gdzie V to wielkość słownika. W tym modelu każde słowo ma szansę zostać wylosowane – nawet te który bezpośrednio po sobie nigdy nie wystąpiły.</a:t>
                </a:r>
              </a:p>
              <a:p>
                <a:r>
                  <a:rPr lang="pl-PL" sz="2800" dirty="0"/>
                  <a:t>- </a:t>
                </a:r>
                <a:r>
                  <a:rPr lang="pl-PL" sz="2800" dirty="0" err="1"/>
                  <a:t>Kneser</a:t>
                </a:r>
                <a:r>
                  <a:rPr lang="pl-PL" sz="2800" dirty="0"/>
                  <a:t>-Ney </a:t>
                </a:r>
                <a:r>
                  <a:rPr lang="pl-PL" sz="2800" dirty="0" err="1"/>
                  <a:t>smoothing</a:t>
                </a:r>
                <a:r>
                  <a:rPr lang="pl-PL" sz="2800" dirty="0"/>
                  <a:t> to jedna z najlepszych metod wygładzania.</a:t>
                </a:r>
              </a:p>
              <a:p>
                <a:r>
                  <a:rPr lang="pl-PL" sz="2800" dirty="0"/>
                  <a:t>Nie tylko "dodaje coś" do rzadkich n-gramów, ale też inteligentnie ocenia ich prawdopodobieństwo na podstawie kontekstu.</a:t>
                </a:r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25CBCC6-92AB-3F5C-1FB2-3B84D61A24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8321041" cy="4023360"/>
              </a:xfrm>
              <a:blipFill>
                <a:blip r:embed="rId3"/>
                <a:stretch>
                  <a:fillRect l="-1099" t="-3485" r="-124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479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92075-4D17-79A9-4ABB-0302A12A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6F292094-50D8-BB7A-BB35-480D477BD470}"/>
              </a:ext>
            </a:extLst>
          </p:cNvPr>
          <p:cNvSpPr txBox="1"/>
          <p:nvPr/>
        </p:nvSpPr>
        <p:spPr>
          <a:xfrm>
            <a:off x="107504" y="332656"/>
            <a:ext cx="874846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from </a:t>
            </a:r>
            <a:r>
              <a:rPr lang="pl-PL" dirty="0" err="1"/>
              <a:t>nltk.lm</a:t>
            </a:r>
            <a:r>
              <a:rPr lang="pl-PL" dirty="0"/>
              <a:t> import MLE, Laplace, </a:t>
            </a:r>
            <a:r>
              <a:rPr lang="pl-PL" dirty="0" err="1"/>
              <a:t>KneserNeyInterpolated</a:t>
            </a:r>
            <a:br>
              <a:rPr lang="pl-PL" dirty="0"/>
            </a:br>
            <a:r>
              <a:rPr lang="pl-PL" dirty="0"/>
              <a:t>from </a:t>
            </a:r>
            <a:r>
              <a:rPr lang="pl-PL" dirty="0" err="1"/>
              <a:t>nltk.lm.preprocessing</a:t>
            </a:r>
            <a:r>
              <a:rPr lang="pl-PL" dirty="0"/>
              <a:t> import </a:t>
            </a:r>
            <a:r>
              <a:rPr lang="pl-PL" dirty="0" err="1"/>
              <a:t>padded_everygram_pipeline</a:t>
            </a:r>
            <a:br>
              <a:rPr lang="pl-PL" dirty="0"/>
            </a:br>
            <a:br>
              <a:rPr lang="pl-PL" dirty="0"/>
            </a:br>
            <a:r>
              <a:rPr lang="pl-PL" dirty="0" err="1"/>
              <a:t>corpus</a:t>
            </a:r>
            <a:r>
              <a:rPr lang="pl-PL" dirty="0"/>
              <a:t> = [</a:t>
            </a:r>
            <a:br>
              <a:rPr lang="pl-PL" dirty="0"/>
            </a:br>
            <a:r>
              <a:rPr lang="pl-PL" dirty="0"/>
              <a:t>    ["Platon", "mieszkał", "w", "Atenach", "."],</a:t>
            </a:r>
            <a:br>
              <a:rPr lang="pl-PL" dirty="0"/>
            </a:br>
            <a:r>
              <a:rPr lang="pl-PL" dirty="0"/>
              <a:t>    ["Sokrates", "mieszkał", "w", "Atenach", "."]</a:t>
            </a:r>
            <a:br>
              <a:rPr lang="pl-PL" dirty="0"/>
            </a:br>
            <a:r>
              <a:rPr lang="pl-PL" dirty="0"/>
              <a:t>]</a:t>
            </a:r>
            <a:br>
              <a:rPr lang="pl-PL" dirty="0"/>
            </a:br>
            <a:br>
              <a:rPr lang="pl-PL" dirty="0"/>
            </a:br>
            <a:r>
              <a:rPr lang="pl-PL" dirty="0"/>
              <a:t>n = 3</a:t>
            </a:r>
            <a:br>
              <a:rPr lang="pl-PL" dirty="0"/>
            </a:br>
            <a:br>
              <a:rPr lang="pl-PL" dirty="0"/>
            </a:br>
            <a:r>
              <a:rPr lang="pl-PL" dirty="0" err="1"/>
              <a:t>models</a:t>
            </a:r>
            <a:r>
              <a:rPr lang="pl-PL" dirty="0"/>
              <a:t> = {</a:t>
            </a:r>
            <a:br>
              <a:rPr lang="pl-PL" dirty="0"/>
            </a:br>
            <a:r>
              <a:rPr lang="pl-PL" dirty="0"/>
              <a:t>    "MLE": MLE,</a:t>
            </a:r>
            <a:br>
              <a:rPr lang="pl-PL" dirty="0"/>
            </a:br>
            <a:r>
              <a:rPr lang="pl-PL" dirty="0"/>
              <a:t>    "Laplace": Laplace,</a:t>
            </a:r>
            <a:br>
              <a:rPr lang="pl-PL" dirty="0"/>
            </a:br>
            <a:r>
              <a:rPr lang="pl-PL" dirty="0"/>
              <a:t>    "</a:t>
            </a:r>
            <a:r>
              <a:rPr lang="pl-PL" dirty="0" err="1"/>
              <a:t>KneserNey</a:t>
            </a:r>
            <a:r>
              <a:rPr lang="pl-PL" dirty="0"/>
              <a:t>": </a:t>
            </a:r>
            <a:r>
              <a:rPr lang="pl-PL" dirty="0" err="1"/>
              <a:t>KneserNeyInterpolated</a:t>
            </a:r>
            <a:r>
              <a:rPr lang="pl-PL" dirty="0"/>
              <a:t>,</a:t>
            </a:r>
            <a:br>
              <a:rPr lang="pl-PL" dirty="0"/>
            </a:br>
            <a:r>
              <a:rPr lang="pl-PL" dirty="0"/>
              <a:t>}</a:t>
            </a:r>
            <a:br>
              <a:rPr lang="pl-PL" dirty="0"/>
            </a:br>
            <a:br>
              <a:rPr lang="pl-PL" dirty="0"/>
            </a:br>
            <a:r>
              <a:rPr lang="pl-PL" dirty="0"/>
              <a:t>for </a:t>
            </a:r>
            <a:r>
              <a:rPr lang="pl-PL" dirty="0" err="1"/>
              <a:t>name</a:t>
            </a:r>
            <a:r>
              <a:rPr lang="pl-PL" dirty="0"/>
              <a:t>, Model in </a:t>
            </a:r>
            <a:r>
              <a:rPr lang="pl-PL" dirty="0" err="1"/>
              <a:t>models.items</a:t>
            </a:r>
            <a:r>
              <a:rPr lang="pl-PL" dirty="0"/>
              <a:t>():</a:t>
            </a:r>
            <a:br>
              <a:rPr lang="pl-PL" dirty="0"/>
            </a:br>
            <a:r>
              <a:rPr lang="pl-PL" dirty="0"/>
              <a:t>    </a:t>
            </a:r>
            <a:r>
              <a:rPr lang="pl-PL" dirty="0" err="1"/>
              <a:t>train_data_gen</a:t>
            </a:r>
            <a:r>
              <a:rPr lang="pl-PL" dirty="0"/>
              <a:t>, </a:t>
            </a:r>
            <a:r>
              <a:rPr lang="pl-PL" dirty="0" err="1"/>
              <a:t>vocab_gen</a:t>
            </a:r>
            <a:r>
              <a:rPr lang="pl-PL" dirty="0"/>
              <a:t> = </a:t>
            </a:r>
            <a:r>
              <a:rPr lang="pl-PL" dirty="0" err="1"/>
              <a:t>padded_everygram_pipeline</a:t>
            </a:r>
            <a:r>
              <a:rPr lang="pl-PL" dirty="0"/>
              <a:t>(n, </a:t>
            </a:r>
            <a:r>
              <a:rPr lang="pl-PL" dirty="0" err="1"/>
              <a:t>corpus</a:t>
            </a:r>
            <a:r>
              <a:rPr lang="pl-PL" dirty="0"/>
              <a:t>)</a:t>
            </a:r>
            <a:br>
              <a:rPr lang="pl-PL" dirty="0"/>
            </a:br>
            <a:r>
              <a:rPr lang="pl-PL" dirty="0"/>
              <a:t>    model = Model(n)</a:t>
            </a:r>
            <a:br>
              <a:rPr lang="pl-PL" dirty="0"/>
            </a:br>
            <a:r>
              <a:rPr lang="pl-PL" dirty="0"/>
              <a:t>    </a:t>
            </a:r>
            <a:r>
              <a:rPr lang="pl-PL" dirty="0" err="1"/>
              <a:t>model.fit</a:t>
            </a:r>
            <a:r>
              <a:rPr lang="pl-PL" dirty="0"/>
              <a:t>(</a:t>
            </a:r>
            <a:r>
              <a:rPr lang="pl-PL" dirty="0" err="1"/>
              <a:t>train_data_gen</a:t>
            </a:r>
            <a:r>
              <a:rPr lang="pl-PL" dirty="0"/>
              <a:t>, </a:t>
            </a:r>
            <a:r>
              <a:rPr lang="pl-PL" dirty="0" err="1"/>
              <a:t>vocab_gen</a:t>
            </a:r>
            <a:r>
              <a:rPr lang="pl-PL" dirty="0"/>
              <a:t>)</a:t>
            </a:r>
            <a:br>
              <a:rPr lang="pl-PL" dirty="0"/>
            </a:br>
            <a:r>
              <a:rPr lang="pl-PL" dirty="0"/>
              <a:t>    </a:t>
            </a:r>
            <a:r>
              <a:rPr lang="pl-PL" dirty="0" err="1"/>
              <a:t>print</a:t>
            </a:r>
            <a:r>
              <a:rPr lang="pl-PL" dirty="0"/>
              <a:t>(f"\n{</a:t>
            </a:r>
            <a:r>
              <a:rPr lang="pl-PL" dirty="0" err="1"/>
              <a:t>name</a:t>
            </a:r>
            <a:r>
              <a:rPr lang="pl-PL" dirty="0"/>
              <a:t>}: P('Atenach' | ['w']) = {</a:t>
            </a:r>
            <a:r>
              <a:rPr lang="pl-PL" dirty="0" err="1"/>
              <a:t>model.score</a:t>
            </a:r>
            <a:r>
              <a:rPr lang="pl-PL" dirty="0"/>
              <a:t>('Atenach', ['w'])}")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652030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cja">
  <a:themeElements>
    <a:clrScheme name="Retrospekcj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cj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cj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BB786FF68C4F4489610E14B800F038" ma:contentTypeVersion="3" ma:contentTypeDescription="Utwórz nowy dokument." ma:contentTypeScope="" ma:versionID="228608fec0ff488e7b81ac8253d55fb8">
  <xsd:schema xmlns:xsd="http://www.w3.org/2001/XMLSchema" xmlns:xs="http://www.w3.org/2001/XMLSchema" xmlns:p="http://schemas.microsoft.com/office/2006/metadata/properties" xmlns:ns2="f0816f1a-20eb-4d23-b012-af66eb922a7f" targetNamespace="http://schemas.microsoft.com/office/2006/metadata/properties" ma:root="true" ma:fieldsID="967a4a1327e72834ab477300dcbb8a22" ns2:_="">
    <xsd:import namespace="f0816f1a-20eb-4d23-b012-af66eb922a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16f1a-20eb-4d23-b012-af66eb922a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30799-50A6-4CBB-8C1D-02EF24D6FE63}"/>
</file>

<file path=customXml/itemProps2.xml><?xml version="1.0" encoding="utf-8"?>
<ds:datastoreItem xmlns:ds="http://schemas.openxmlformats.org/officeDocument/2006/customXml" ds:itemID="{85623BCB-AA1E-470A-8886-6815FADBBC75}"/>
</file>

<file path=customXml/itemProps3.xml><?xml version="1.0" encoding="utf-8"?>
<ds:datastoreItem xmlns:ds="http://schemas.openxmlformats.org/officeDocument/2006/customXml" ds:itemID="{5992C7D9-95BF-4A81-B7E8-8470B219EFC3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4772</TotalTime>
  <Words>891</Words>
  <Application>Microsoft Office PowerPoint</Application>
  <PresentationFormat>Pokaz na ekranie (4:3)</PresentationFormat>
  <Paragraphs>102</Paragraphs>
  <Slides>10</Slides>
  <Notes>9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JetBrains Mono</vt:lpstr>
      <vt:lpstr>Retrospekcja</vt:lpstr>
      <vt:lpstr>Przetwarzanie języka naturalnego</vt:lpstr>
      <vt:lpstr>Generowanie języka naturalnego</vt:lpstr>
      <vt:lpstr>Tworzenie tekstu z wykorzystaniem n-gramów</vt:lpstr>
      <vt:lpstr>Model n-gramowy</vt:lpstr>
      <vt:lpstr>Prezentacja programu PowerPoint</vt:lpstr>
      <vt:lpstr>Prezentacja programu PowerPoint</vt:lpstr>
      <vt:lpstr>Prezentacja programu PowerPoint</vt:lpstr>
      <vt:lpstr>Prezentacja programu PowerPoint</vt:lpstr>
      <vt:lpstr>Model n-gramowe - rodzaje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Temat: Rekonstrukcja zderzenia pojazdu z wykorzystaniem programu PC-Crash</dc:title>
  <dc:creator>Admin</dc:creator>
  <cp:lastModifiedBy>Wojciech Książek</cp:lastModifiedBy>
  <cp:revision>272</cp:revision>
  <cp:lastPrinted>2025-02-17T08:25:37Z</cp:lastPrinted>
  <dcterms:created xsi:type="dcterms:W3CDTF">2011-11-02T06:12:13Z</dcterms:created>
  <dcterms:modified xsi:type="dcterms:W3CDTF">2025-11-11T10:05:34Z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0x010100C9BB786FF68C4F4489610E14B800F038</vt:lpwstr>
  </property>
</Properties>
</file>
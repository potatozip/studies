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50F25D-610F-0E74-DA18-A1AA454C8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NLP - 4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1A296FB-4D21-0C90-51B0-6195F1116F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5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6B0707-EC32-247B-C98F-50AFA759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Wektoryzacja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9830B6-E331-0865-DCEC-DCA2C6E38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Czyli zamiana tekstu na liczby</a:t>
            </a:r>
          </a:p>
          <a:p>
            <a:endParaRPr lang="pl-PL" sz="3200" dirty="0"/>
          </a:p>
          <a:p>
            <a:pPr marL="0" indent="0">
              <a:buNone/>
            </a:pPr>
            <a:r>
              <a:rPr lang="pl-PL" sz="3200" dirty="0"/>
              <a:t>Dlaczego ? – bo modele oczekują liczb</a:t>
            </a:r>
          </a:p>
        </p:txBody>
      </p:sp>
    </p:spTree>
    <p:extLst>
      <p:ext uri="{BB962C8B-B14F-4D97-AF65-F5344CB8AC3E}">
        <p14:creationId xmlns:p14="http://schemas.microsoft.com/office/powerpoint/2010/main" val="423629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261DC1-E649-51E7-98D6-7B5E3EE6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Bag</a:t>
            </a:r>
            <a:r>
              <a:rPr lang="pl-PL" dirty="0"/>
              <a:t> of </a:t>
            </a:r>
            <a:r>
              <a:rPr lang="pl-PL" dirty="0" err="1"/>
              <a:t>words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49E9C27-6C6F-1690-B1EA-F395FECB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Podejście już nie aktualne ale jest bazą do zrozumienia jak działają „nowsze i lepsze rozwiązania”</a:t>
            </a:r>
          </a:p>
          <a:p>
            <a:pPr marL="0" indent="0">
              <a:buNone/>
            </a:pPr>
            <a:endParaRPr lang="pl-PL" sz="2800" dirty="0"/>
          </a:p>
          <a:p>
            <a:r>
              <a:rPr lang="pl-PL" sz="2800" dirty="0"/>
              <a:t>DEFINICJA: Wyciągamy z całego korpusu wszystkie unikalne słowa, a pozycja słowa w posortowanej tablicy wyznacza nam pozycje słowa w wektorowej reprezentacji</a:t>
            </a:r>
            <a:br>
              <a:rPr lang="pl-PL" sz="2800" dirty="0"/>
            </a:br>
            <a:r>
              <a:rPr lang="pl-PL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188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 Introduction to Bag of Words (BoW) | by Vamshi Prakash | Medium">
            <a:extLst>
              <a:ext uri="{FF2B5EF4-FFF2-40B4-BE49-F238E27FC236}">
                <a16:creationId xmlns:a16="http://schemas.microsoft.com/office/drawing/2014/main" id="{D0490106-B828-B165-4D1A-391FBDA8FC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2259" y="480515"/>
            <a:ext cx="10247481" cy="589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33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EFBBCF-4517-265E-596C-9A5E006B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dirty="0"/>
              <a:t>Mamy dwa zdania: "</a:t>
            </a:r>
            <a:r>
              <a:rPr lang="pl-PL" sz="2400" b="1" dirty="0"/>
              <a:t>Ala ma kota</a:t>
            </a:r>
            <a:r>
              <a:rPr lang="pl-PL" sz="2400" dirty="0"/>
              <a:t>„ i "</a:t>
            </a:r>
            <a:r>
              <a:rPr lang="pl-PL" sz="2400" b="1" dirty="0"/>
              <a:t>Kot lubi mleko</a:t>
            </a:r>
            <a:r>
              <a:rPr lang="pl-PL" sz="2400" dirty="0"/>
              <a:t>"</a:t>
            </a:r>
          </a:p>
          <a:p>
            <a:pPr marL="0" indent="0">
              <a:buNone/>
            </a:pPr>
            <a:r>
              <a:rPr lang="pl-PL" sz="2400" dirty="0"/>
              <a:t> Słownik (kolejność słów arbitralna, czasami może być sortowanie):</a:t>
            </a:r>
          </a:p>
          <a:p>
            <a:r>
              <a:rPr lang="pl-PL" sz="2400" dirty="0"/>
              <a:t>["</a:t>
            </a:r>
            <a:r>
              <a:rPr lang="pl-PL" sz="2400" dirty="0" err="1">
                <a:solidFill>
                  <a:srgbClr val="FF0000"/>
                </a:solidFill>
              </a:rPr>
              <a:t>ala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FF0000"/>
                </a:solidFill>
              </a:rPr>
              <a:t>ma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FF0000"/>
                </a:solidFill>
              </a:rPr>
              <a:t>kota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00B0F0"/>
                </a:solidFill>
              </a:rPr>
              <a:t>kot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00B0F0"/>
                </a:solidFill>
              </a:rPr>
              <a:t>lubi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00B0F0"/>
                </a:solidFill>
              </a:rPr>
              <a:t>mleko</a:t>
            </a:r>
            <a:r>
              <a:rPr lang="pl-PL" sz="2400" dirty="0"/>
              <a:t>"]</a:t>
            </a:r>
          </a:p>
          <a:p>
            <a:pPr marL="0" indent="0">
              <a:buNone/>
            </a:pPr>
            <a:endParaRPr lang="pl-PL" sz="2400" b="1" dirty="0"/>
          </a:p>
          <a:p>
            <a:pPr marL="0" indent="0">
              <a:buNone/>
            </a:pPr>
            <a:r>
              <a:rPr lang="pl-PL" sz="2400" b="1" dirty="0"/>
              <a:t>Wektory:</a:t>
            </a:r>
            <a:endParaRPr lang="pl-PL" sz="2400" dirty="0"/>
          </a:p>
          <a:p>
            <a:r>
              <a:rPr lang="pl-PL" sz="2400" dirty="0"/>
              <a:t>Zdanie 1: "Ala ma kota" → [</a:t>
            </a:r>
            <a:r>
              <a:rPr lang="pl-PL" sz="2400" dirty="0">
                <a:solidFill>
                  <a:srgbClr val="FF0000"/>
                </a:solidFill>
              </a:rPr>
              <a:t>1</a:t>
            </a:r>
            <a:r>
              <a:rPr lang="pl-PL" sz="2400" dirty="0"/>
              <a:t>, </a:t>
            </a:r>
            <a:r>
              <a:rPr lang="pl-PL" sz="2400" dirty="0">
                <a:solidFill>
                  <a:srgbClr val="FF0000"/>
                </a:solidFill>
              </a:rPr>
              <a:t>1</a:t>
            </a:r>
            <a:r>
              <a:rPr lang="pl-PL" sz="2400" dirty="0"/>
              <a:t>, </a:t>
            </a:r>
            <a:r>
              <a:rPr lang="pl-PL" sz="2400" dirty="0">
                <a:solidFill>
                  <a:srgbClr val="FF0000"/>
                </a:solidFill>
              </a:rPr>
              <a:t>1</a:t>
            </a:r>
            <a:r>
              <a:rPr lang="pl-PL" sz="2400" dirty="0"/>
              <a:t>, 0, 0, 0]</a:t>
            </a:r>
          </a:p>
          <a:p>
            <a:r>
              <a:rPr lang="pl-PL" sz="2400" dirty="0"/>
              <a:t>Zdanie 2: "Kot lubi mleko" → [0, 0, 0, </a:t>
            </a:r>
            <a:r>
              <a:rPr lang="pl-PL" sz="2400" dirty="0">
                <a:solidFill>
                  <a:srgbClr val="00B0F0"/>
                </a:solidFill>
              </a:rPr>
              <a:t>1</a:t>
            </a:r>
            <a:r>
              <a:rPr lang="pl-PL" sz="2400" dirty="0"/>
              <a:t>, </a:t>
            </a:r>
            <a:r>
              <a:rPr lang="pl-PL" sz="2400" dirty="0">
                <a:solidFill>
                  <a:srgbClr val="00B0F0"/>
                </a:solidFill>
              </a:rPr>
              <a:t>1,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00B0F0"/>
                </a:solidFill>
              </a:rPr>
              <a:t>1</a:t>
            </a:r>
            <a:r>
              <a:rPr lang="pl-PL" sz="2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1517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0FE32E-0D42-B554-758B-F99997D97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67465"/>
            <a:ext cx="9601200" cy="3581400"/>
          </a:xfrm>
        </p:spPr>
        <p:txBody>
          <a:bodyPr>
            <a:normAutofit/>
          </a:bodyPr>
          <a:lstStyle/>
          <a:p>
            <a:r>
              <a:rPr lang="pl-PL" sz="2400" dirty="0"/>
              <a:t>Mamy zdanie „</a:t>
            </a:r>
            <a:r>
              <a:rPr lang="pl-PL" sz="2400" dirty="0" err="1"/>
              <a:t>ala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FF0000"/>
                </a:solidFill>
              </a:rPr>
              <a:t>ma</a:t>
            </a:r>
            <a:r>
              <a:rPr lang="pl-PL" sz="2400" dirty="0"/>
              <a:t> kota i </a:t>
            </a:r>
            <a:r>
              <a:rPr lang="pl-PL" sz="2400" dirty="0">
                <a:solidFill>
                  <a:srgbClr val="FF0000"/>
                </a:solidFill>
              </a:rPr>
              <a:t>ma</a:t>
            </a:r>
            <a:r>
              <a:rPr lang="pl-PL" sz="2400" dirty="0"/>
              <a:t> też pieska”</a:t>
            </a:r>
          </a:p>
          <a:p>
            <a:pPr marL="0" indent="0">
              <a:buNone/>
            </a:pPr>
            <a:r>
              <a:rPr lang="pl-PL" sz="2400" dirty="0"/>
              <a:t>Budujemy słownik:</a:t>
            </a:r>
          </a:p>
          <a:p>
            <a:r>
              <a:rPr lang="pl-PL" sz="2400" dirty="0"/>
              <a:t>["</a:t>
            </a:r>
            <a:r>
              <a:rPr lang="pl-PL" sz="2400" dirty="0" err="1"/>
              <a:t>ala</a:t>
            </a:r>
            <a:r>
              <a:rPr lang="pl-PL" sz="2400" dirty="0"/>
              <a:t>", "</a:t>
            </a:r>
            <a:r>
              <a:rPr lang="pl-PL" sz="2400" dirty="0">
                <a:solidFill>
                  <a:srgbClr val="FF0000"/>
                </a:solidFill>
              </a:rPr>
              <a:t>ma</a:t>
            </a:r>
            <a:r>
              <a:rPr lang="pl-PL" sz="2400" dirty="0"/>
              <a:t>", "kota", "i", "też", "pieska"]</a:t>
            </a:r>
          </a:p>
          <a:p>
            <a:pPr marL="0" indent="0">
              <a:buNone/>
            </a:pPr>
            <a:endParaRPr lang="pl-PL" sz="2400" dirty="0"/>
          </a:p>
          <a:p>
            <a:pPr marL="0" indent="0">
              <a:buNone/>
            </a:pPr>
            <a:r>
              <a:rPr lang="pl-PL" sz="2400" dirty="0"/>
              <a:t>Wektor:</a:t>
            </a:r>
          </a:p>
          <a:p>
            <a:r>
              <a:rPr lang="pl-PL" sz="2400" dirty="0"/>
              <a:t>[1, </a:t>
            </a:r>
            <a:r>
              <a:rPr lang="pl-PL" sz="2400" dirty="0">
                <a:solidFill>
                  <a:srgbClr val="FF0000"/>
                </a:solidFill>
              </a:rPr>
              <a:t>2</a:t>
            </a:r>
            <a:r>
              <a:rPr lang="pl-PL" sz="2400" dirty="0"/>
              <a:t>, 1, 1, 1, 1]</a:t>
            </a:r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44631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9DFE84-7590-0645-14E2-3FC5CC13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użyć?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5374C9-4AF5-60A4-5443-2DA8D9A7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scikit-learn</a:t>
            </a:r>
            <a:r>
              <a:rPr lang="pl-PL" dirty="0"/>
              <a:t> klasa </a:t>
            </a:r>
            <a:r>
              <a:rPr lang="pl-PL" dirty="0" err="1"/>
              <a:t>CountVectorizer</a:t>
            </a: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F81109D-022E-FABF-F6F2-C2B5B2D3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822291"/>
            <a:ext cx="9805307" cy="357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9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FD814A-E328-5889-0DC3-23CB2DAF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Ograniczenia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2B7A20-FC70-F9C7-FBE8-2CB474C4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dirty="0"/>
              <a:t>Zdania o tym samym wydźwięku będą mieć tą samą reprezentację</a:t>
            </a:r>
          </a:p>
          <a:p>
            <a:r>
              <a:rPr lang="pl-PL" sz="2400" dirty="0"/>
              <a:t>Słowa typu </a:t>
            </a:r>
            <a:r>
              <a:rPr lang="pl-PL" sz="2400" b="1" dirty="0"/>
              <a:t>i, a </a:t>
            </a:r>
            <a:r>
              <a:rPr lang="pl-PL" sz="2400" dirty="0"/>
              <a:t>będą mieć bardzo dużą wagę – bo często występują w tekście, a niezbyt wiele wnoszą</a:t>
            </a:r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01473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F45BF1-E136-CBDA-95A1-A309D56F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TFIDF - Term Frequency Inversed Document Frequency</a:t>
            </a:r>
            <a:br>
              <a:rPr lang="en-US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C0CCD9-B0BD-F7A3-CA3B-FFD2D5AF1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TFIDF to rozszerzenie, które naprawia ten problem algorytmu </a:t>
            </a:r>
            <a:r>
              <a:rPr lang="pl-PL" dirty="0" err="1"/>
              <a:t>Bag</a:t>
            </a:r>
            <a:r>
              <a:rPr lang="pl-PL" dirty="0"/>
              <a:t>-of-</a:t>
            </a:r>
            <a:r>
              <a:rPr lang="pl-PL" dirty="0" err="1"/>
              <a:t>Words</a:t>
            </a:r>
            <a:r>
              <a:rPr lang="pl-PL" dirty="0"/>
              <a:t>. Na początku zlicza on dla każdego słowa liczbę dokumentów, w których dane słowo występuje, czyli pewien współczynnik popularności. Z tej liczby możemy wyliczyć wyraz IDF (</a:t>
            </a:r>
            <a:r>
              <a:rPr lang="pl-PL" dirty="0" err="1"/>
              <a:t>Inversed</a:t>
            </a:r>
            <a:r>
              <a:rPr lang="pl-PL" dirty="0"/>
              <a:t> </a:t>
            </a:r>
            <a:r>
              <a:rPr lang="pl-PL" dirty="0" err="1"/>
              <a:t>Document</a:t>
            </a:r>
            <a:r>
              <a:rPr lang="pl-PL" dirty="0"/>
              <a:t> </a:t>
            </a:r>
            <a:r>
              <a:rPr lang="pl-PL" dirty="0" err="1"/>
              <a:t>Frequency</a:t>
            </a:r>
            <a:r>
              <a:rPr lang="pl-PL" dirty="0"/>
              <a:t>), który jest odwrotnie proporcjonalny do popularności danego słowa. </a:t>
            </a:r>
          </a:p>
          <a:p>
            <a:r>
              <a:rPr lang="pl-PL" dirty="0"/>
              <a:t>Im bardziej popularny wyraz, tym mniejsza waga IDF. Jeśli słowo występuje w każdym dokumencie, to pewnie nie ma zbyt wielkiego znaczenia dla poprawnego zrozumienia tekstu i możemy mu przypisać mniejszą wagę niż innym słowom.</a:t>
            </a:r>
          </a:p>
          <a:p>
            <a:r>
              <a:rPr lang="pl-PL" dirty="0"/>
              <a:t>Wartości TFIDF są wyliczane dla wszystkich słów z danego dokumentu. Wyraz IDF już znamy, a wyraz TF (Term </a:t>
            </a:r>
            <a:r>
              <a:rPr lang="pl-PL" dirty="0" err="1"/>
              <a:t>Frequency</a:t>
            </a:r>
            <a:r>
              <a:rPr lang="pl-PL" dirty="0"/>
              <a:t>) to  niejako zawartość procentowa danego wyrazu w całym dokumencie, czyli znormalizowana wartość </a:t>
            </a:r>
            <a:r>
              <a:rPr lang="pl-PL" dirty="0" err="1"/>
              <a:t>Bag</a:t>
            </a:r>
            <a:r>
              <a:rPr lang="pl-PL" dirty="0"/>
              <a:t>-of-</a:t>
            </a:r>
            <a:r>
              <a:rPr lang="pl-PL" dirty="0" err="1"/>
              <a:t>Words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61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612E14-085E-9061-5CB7-8A2139DD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TfidfVectorizer</a:t>
            </a:r>
            <a:endParaRPr lang="pl-PL" dirty="0"/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BE158327-EAAE-E29C-E6D4-FFFCA8409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188" y="1563130"/>
            <a:ext cx="8746497" cy="49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3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1B5ECA-A198-A1AB-D51D-6DF64679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Nowoczesne metody </a:t>
            </a:r>
            <a:r>
              <a:rPr lang="pl-PL" dirty="0" err="1"/>
              <a:t>wektoryzacji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EA1CF72-5D89-0D79-8CA7-774B9C46C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Word2vec (bazuje na płytkiej sieci neuronowej uczącej się powiązań między słowami) – REPREZENTACJA POJEDYNCZYCH SŁÓW!!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F3E553C-3C9F-ACBD-9568-F21C1A6A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13" y="3787346"/>
            <a:ext cx="958348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6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DBB379F-705D-0E09-4B98-B0688A291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9556" y="480515"/>
            <a:ext cx="6352887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E1BB882-9DB9-548F-8245-BCF7CEEF2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099" y="480515"/>
            <a:ext cx="10559800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38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F0DFDE0-BFF9-5935-F725-F8E1CDD92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194" y="2034987"/>
            <a:ext cx="9550581" cy="275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54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5EB11D-C3CB-2803-E691-CD2C50E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 Bag of Words (CBOW)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15E2C1-E2E9-293F-2010-5734C1C5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Z wykorzystaniem </a:t>
            </a:r>
            <a:r>
              <a:rPr lang="pl-PL" dirty="0" err="1">
                <a:solidFill>
                  <a:schemeClr val="tx1"/>
                </a:solidFill>
              </a:rPr>
              <a:t>Bag</a:t>
            </a:r>
            <a:r>
              <a:rPr lang="pl-PL" dirty="0">
                <a:solidFill>
                  <a:schemeClr val="tx1"/>
                </a:solidFill>
              </a:rPr>
              <a:t> of </a:t>
            </a:r>
            <a:r>
              <a:rPr lang="pl-PL" dirty="0" err="1">
                <a:solidFill>
                  <a:schemeClr val="tx1"/>
                </a:solidFill>
              </a:rPr>
              <a:t>Words</a:t>
            </a:r>
            <a:r>
              <a:rPr lang="pl-PL" dirty="0">
                <a:solidFill>
                  <a:schemeClr val="tx1"/>
                </a:solidFill>
              </a:rPr>
              <a:t> kodujemy kontekst słowa, które nas aktualnie interesuje. Słowo, które nas interesuje – kolor czerwony, kontekst – kolor zielony</a:t>
            </a:r>
          </a:p>
          <a:p>
            <a:r>
              <a:rPr lang="en-US" dirty="0">
                <a:solidFill>
                  <a:srgbClr val="0070C0"/>
                </a:solidFill>
              </a:rPr>
              <a:t>The cat </a:t>
            </a:r>
            <a:r>
              <a:rPr lang="en-US" dirty="0">
                <a:solidFill>
                  <a:srgbClr val="FF0000"/>
                </a:solidFill>
              </a:rPr>
              <a:t>sits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on the </a:t>
            </a:r>
            <a:r>
              <a:rPr lang="en-US" dirty="0">
                <a:solidFill>
                  <a:schemeClr val="tx1"/>
                </a:solidFill>
              </a:rPr>
              <a:t>mat and the dog sleeps on the rug.</a:t>
            </a:r>
            <a:endParaRPr lang="pl-P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l-PL" dirty="0"/>
              <a:t>Reprezentacja centralnego słowa ("</a:t>
            </a:r>
            <a:r>
              <a:rPr lang="pl-PL" dirty="0" err="1"/>
              <a:t>sits</a:t>
            </a:r>
            <a:r>
              <a:rPr lang="pl-PL" dirty="0"/>
              <a:t>"): [0, 0, </a:t>
            </a:r>
            <a:r>
              <a:rPr lang="pl-PL" dirty="0">
                <a:solidFill>
                  <a:srgbClr val="FF0000"/>
                </a:solidFill>
              </a:rPr>
              <a:t>1</a:t>
            </a:r>
            <a:r>
              <a:rPr lang="pl-PL" dirty="0"/>
              <a:t>, 0, 0, 0, 0, 0, 0, 0]</a:t>
            </a:r>
          </a:p>
          <a:p>
            <a:pPr marL="0" indent="0">
              <a:buNone/>
            </a:pPr>
            <a:r>
              <a:rPr lang="pl-PL" dirty="0"/>
              <a:t>Reprezentacja dla kontekstu: [</a:t>
            </a:r>
            <a:r>
              <a:rPr lang="pl-PL" dirty="0">
                <a:solidFill>
                  <a:srgbClr val="00B0F0"/>
                </a:solidFill>
              </a:rPr>
              <a:t>1, 1</a:t>
            </a:r>
            <a:r>
              <a:rPr lang="pl-PL" dirty="0"/>
              <a:t>, 0, </a:t>
            </a:r>
            <a:r>
              <a:rPr lang="pl-PL" dirty="0">
                <a:solidFill>
                  <a:srgbClr val="00B0F0"/>
                </a:solidFill>
              </a:rPr>
              <a:t>1, 1</a:t>
            </a:r>
            <a:r>
              <a:rPr lang="pl-PL" dirty="0"/>
              <a:t>, 0, 0, 0, 0, 0]</a:t>
            </a:r>
          </a:p>
          <a:p>
            <a:pPr marL="0" indent="0">
              <a:buNone/>
            </a:pPr>
            <a:endParaRPr lang="pl-P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76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73EAAF-295F-FB8C-D1A2-4F15E366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83B46A-05CF-9492-121E-9F352D4D7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GloVe</a:t>
            </a:r>
            <a:r>
              <a:rPr lang="en-US" sz="3200" dirty="0"/>
              <a:t>: Global Vectors for Word Representation </a:t>
            </a:r>
            <a:endParaRPr lang="pl-PL" sz="3200" dirty="0"/>
          </a:p>
          <a:p>
            <a:r>
              <a:rPr lang="pl-PL" sz="3200" dirty="0" err="1"/>
              <a:t>FastText</a:t>
            </a:r>
            <a:endParaRPr lang="pl-PL" sz="3200" dirty="0"/>
          </a:p>
          <a:p>
            <a:r>
              <a:rPr lang="pl-PL" sz="3200" dirty="0"/>
              <a:t>Bert</a:t>
            </a:r>
          </a:p>
          <a:p>
            <a:r>
              <a:rPr lang="pl-PL" sz="3200" dirty="0" err="1"/>
              <a:t>Elmo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52290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l-P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D213B41-AC9B-4E61-BEED-FF4C168A8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5CBDD27-E123-1C91-4735-CBFCEA5DF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0" y="4484772"/>
            <a:ext cx="10869750" cy="12372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cap="all"/>
              <a:t>Word2Vec - GENSIM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68FF54-C924-B921-3117-AECBE594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30" y="5722070"/>
            <a:ext cx="10869750" cy="50904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300"/>
              <a:t>https://radimrehurek.com/gensim/models/word2vec.html</a:t>
            </a: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D8BB75D5-93A7-4EC9-A2FB-DCBDE6DE3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H="1">
            <a:off x="1046527" y="-133294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628FBD9F-3B86-4C98-8F77-383320737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V="1">
            <a:off x="7838485" y="614084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A2D239C-3828-D286-DFB7-7278AC03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0" y="1150341"/>
            <a:ext cx="8838677" cy="258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5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215C6C-8DD0-E539-3AD2-56E0DBFA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Word2Vec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666627-EB21-2302-A939-117CF6450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67465"/>
            <a:ext cx="9601200" cy="3581400"/>
          </a:xfrm>
        </p:spPr>
        <p:txBody>
          <a:bodyPr>
            <a:normAutofit/>
          </a:bodyPr>
          <a:lstStyle/>
          <a:p>
            <a:r>
              <a:rPr lang="pl-PL" sz="2400" dirty="0"/>
              <a:t>Jak przetwarzamy dokumenty np. w detekcji spamu czy detekcji sentymentu – każdy dokument ma inną liczbę słów – a my najczęściej potrzebujemy wektory takiej samej długości dla algorytmów uczenia</a:t>
            </a:r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4291213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1F7A14-7832-6FAE-255A-AE083A1F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zrobić? – stała długość rekordu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2AADD5-2672-8686-259C-3BCF8B185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1800" dirty="0"/>
              <a:t>  1) Średnia (</a:t>
            </a:r>
            <a:r>
              <a:rPr lang="pl-PL" sz="1800" dirty="0" err="1"/>
              <a:t>mean</a:t>
            </a:r>
            <a:r>
              <a:rPr lang="pl-PL" sz="1800" dirty="0"/>
              <a:t> </a:t>
            </a:r>
            <a:r>
              <a:rPr lang="pl-PL" sz="1800" dirty="0" err="1"/>
              <a:t>pooling</a:t>
            </a:r>
            <a:r>
              <a:rPr lang="pl-PL" sz="1800" dirty="0"/>
              <a:t>) - Uśrednij wektory wszystkich słów w rekordzie. Proste i mocne </a:t>
            </a:r>
            <a:r>
              <a:rPr lang="pl-PL" sz="1800" dirty="0" err="1"/>
              <a:t>baseline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/>
              <a:t>  2) Ważona średnia TF-IDF - To samo co (1), ale ważymy każde słowo jego </a:t>
            </a:r>
            <a:r>
              <a:rPr lang="pl-PL" sz="1800" dirty="0" err="1"/>
              <a:t>tf-idf</a:t>
            </a:r>
            <a:r>
              <a:rPr lang="pl-PL" sz="1800" dirty="0"/>
              <a:t> (często lepsze).</a:t>
            </a:r>
          </a:p>
          <a:p>
            <a:pPr marL="0" indent="0">
              <a:buNone/>
            </a:pPr>
            <a:r>
              <a:rPr lang="pl-PL" sz="1800" dirty="0"/>
              <a:t>  3) SIF (</a:t>
            </a:r>
            <a:r>
              <a:rPr lang="pl-PL" sz="1800" dirty="0" err="1"/>
              <a:t>Smooth</a:t>
            </a:r>
            <a:r>
              <a:rPr lang="pl-PL" sz="1800" dirty="0"/>
              <a:t> </a:t>
            </a:r>
            <a:r>
              <a:rPr lang="pl-PL" sz="1800" dirty="0" err="1"/>
              <a:t>Inverse</a:t>
            </a:r>
            <a:r>
              <a:rPr lang="pl-PL" sz="1800" dirty="0"/>
              <a:t> </a:t>
            </a:r>
            <a:r>
              <a:rPr lang="pl-PL" sz="1800" dirty="0" err="1"/>
              <a:t>Frequency</a:t>
            </a:r>
            <a:r>
              <a:rPr lang="pl-PL" sz="1800" dirty="0"/>
              <a:t>)- Ważona średnia z lekką „deflacją” częstych słów + odjęcie pierwszej składowej PCA. Daje czystsze reprezentacje.</a:t>
            </a:r>
          </a:p>
          <a:p>
            <a:pPr marL="0" indent="0">
              <a:buNone/>
            </a:pPr>
            <a:r>
              <a:rPr lang="pl-PL" sz="1800" dirty="0"/>
              <a:t>4) Statystyki z puli - Złącz: średnią, maksimum, minimum, odchylenie </a:t>
            </a:r>
            <a:r>
              <a:rPr lang="pl-PL" sz="1800" dirty="0" err="1"/>
              <a:t>std</a:t>
            </a:r>
            <a:r>
              <a:rPr lang="pl-PL" sz="1800" dirty="0"/>
              <a:t> po wymiarach. (np. 4×300 = 1200 cech)</a:t>
            </a:r>
          </a:p>
          <a:p>
            <a:pPr marL="0" indent="0">
              <a:buNone/>
            </a:pPr>
            <a:r>
              <a:rPr lang="pl-PL" sz="1800" dirty="0"/>
              <a:t>5) </a:t>
            </a:r>
            <a:r>
              <a:rPr lang="pl-PL" sz="1800" dirty="0" err="1"/>
              <a:t>Bag</a:t>
            </a:r>
            <a:r>
              <a:rPr lang="pl-PL" sz="1800" dirty="0"/>
              <a:t>-of-</a:t>
            </a:r>
            <a:r>
              <a:rPr lang="pl-PL" sz="1800" dirty="0" err="1"/>
              <a:t>Centroids</a:t>
            </a:r>
            <a:r>
              <a:rPr lang="pl-PL" sz="1800" dirty="0"/>
              <a:t> (klastry na wektorach słów)- </a:t>
            </a:r>
            <a:r>
              <a:rPr lang="pl-PL" sz="1800" dirty="0" err="1"/>
              <a:t>Klasteryzujesz</a:t>
            </a:r>
            <a:r>
              <a:rPr lang="pl-PL" sz="1800" dirty="0"/>
              <a:t> wszystkie słowa (np. k-</a:t>
            </a:r>
            <a:r>
              <a:rPr lang="pl-PL" sz="1800" dirty="0" err="1"/>
              <a:t>means</a:t>
            </a:r>
            <a:r>
              <a:rPr lang="pl-PL" sz="1800" dirty="0"/>
              <a:t>), a dokument opisujesz histogramem </a:t>
            </a:r>
            <a:r>
              <a:rPr lang="pl-PL" sz="1800" dirty="0" err="1"/>
              <a:t>należeń</a:t>
            </a:r>
            <a:r>
              <a:rPr lang="pl-PL" sz="1800" dirty="0"/>
              <a:t> do klastrów. (Działa jak „tematy”, stała długość = liczba klastrów)</a:t>
            </a:r>
          </a:p>
          <a:p>
            <a:pPr marL="0" indent="0">
              <a:buNone/>
            </a:pPr>
            <a:r>
              <a:rPr lang="pl-PL" sz="1800" dirty="0"/>
              <a:t>6) Doc2Vec / </a:t>
            </a:r>
            <a:r>
              <a:rPr lang="pl-PL" sz="1800" dirty="0" err="1"/>
              <a:t>Sentence</a:t>
            </a:r>
            <a:r>
              <a:rPr lang="pl-PL" sz="1800" dirty="0"/>
              <a:t> </a:t>
            </a:r>
            <a:r>
              <a:rPr lang="pl-PL" sz="1800" dirty="0" err="1"/>
              <a:t>embeddings</a:t>
            </a:r>
            <a:r>
              <a:rPr lang="pl-PL" sz="1800" dirty="0"/>
              <a:t> - Jeśli nie musisz trzymać się „czystego word2vec”, to modele zdań/dokumentów dają od razu stały wektor.</a:t>
            </a:r>
          </a:p>
        </p:txBody>
      </p:sp>
    </p:spTree>
    <p:extLst>
      <p:ext uri="{BB962C8B-B14F-4D97-AF65-F5344CB8AC3E}">
        <p14:creationId xmlns:p14="http://schemas.microsoft.com/office/powerpoint/2010/main" val="513881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6EEB1A-AC1F-8ADC-FB71-03251699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Doc2Vec – reprezentacja dokumentów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F6B151-7C51-64AA-1786-9D6C5FC03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https://radimrehurek.com/gensim/auto_examples/tutorials/run_doc2vec_lee.html</a:t>
            </a:r>
          </a:p>
        </p:txBody>
      </p:sp>
    </p:spTree>
    <p:extLst>
      <p:ext uri="{BB962C8B-B14F-4D97-AF65-F5344CB8AC3E}">
        <p14:creationId xmlns:p14="http://schemas.microsoft.com/office/powerpoint/2010/main" val="2939528373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BB786FF68C4F4489610E14B800F038" ma:contentTypeVersion="3" ma:contentTypeDescription="Utwórz nowy dokument." ma:contentTypeScope="" ma:versionID="16cd38267fa95617d178ae16d8f6d753">
  <xsd:schema xmlns:xsd="http://www.w3.org/2001/XMLSchema" xmlns:xs="http://www.w3.org/2001/XMLSchema" xmlns:p="http://schemas.microsoft.com/office/2006/metadata/properties" xmlns:ns2="f0816f1a-20eb-4d23-b012-af66eb922a7f" targetNamespace="http://schemas.microsoft.com/office/2006/metadata/properties" ma:root="true" ma:fieldsID="baf36490d044947f6c8e591040e7c9da" ns2:_="">
    <xsd:import namespace="f0816f1a-20eb-4d23-b012-af66eb922a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16f1a-20eb-4d23-b012-af66eb922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8E0333-AE81-4BF1-BCE4-4FE4523B5F6E}"/>
</file>

<file path=customXml/itemProps2.xml><?xml version="1.0" encoding="utf-8"?>
<ds:datastoreItem xmlns:ds="http://schemas.openxmlformats.org/officeDocument/2006/customXml" ds:itemID="{C2B9E1CF-5C7E-47AA-98D8-DE81825927E4}"/>
</file>

<file path=customXml/itemProps3.xml><?xml version="1.0" encoding="utf-8"?>
<ds:datastoreItem xmlns:ds="http://schemas.openxmlformats.org/officeDocument/2006/customXml" ds:itemID="{2BB7E9F6-A1FF-4584-BD54-D6F2F8D56C20}"/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TM10001105[[fn=Przycinanie]]</Template>
  <TotalTime>25</TotalTime>
  <Words>750</Words>
  <Application>Microsoft Office PowerPoint</Application>
  <PresentationFormat>Panoramiczny</PresentationFormat>
  <Paragraphs>59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3" baseType="lpstr">
      <vt:lpstr>Arial</vt:lpstr>
      <vt:lpstr>Franklin Gothic Book</vt:lpstr>
      <vt:lpstr>Przycinanie</vt:lpstr>
      <vt:lpstr>NLP - 4</vt:lpstr>
      <vt:lpstr>Wektoryzacja</vt:lpstr>
      <vt:lpstr>Bag of words</vt:lpstr>
      <vt:lpstr>Prezentacja programu PowerPoint</vt:lpstr>
      <vt:lpstr>Prezentacja programu PowerPoint</vt:lpstr>
      <vt:lpstr>Prezentacja programu PowerPoint</vt:lpstr>
      <vt:lpstr>Jak użyć?</vt:lpstr>
      <vt:lpstr>Ograniczenia</vt:lpstr>
      <vt:lpstr>TFIDF - Term Frequency Inversed Document Frequency </vt:lpstr>
      <vt:lpstr>TfidfVectorizer</vt:lpstr>
      <vt:lpstr>Nowoczesne metody wektoryzacji</vt:lpstr>
      <vt:lpstr>Prezentacja programu PowerPoint</vt:lpstr>
      <vt:lpstr>Prezentacja programu PowerPoint</vt:lpstr>
      <vt:lpstr>Prezentacja programu PowerPoint</vt:lpstr>
      <vt:lpstr>Continuous Bag of Words (CBOW)</vt:lpstr>
      <vt:lpstr>Inne</vt:lpstr>
      <vt:lpstr>Word2Vec - GENSIM</vt:lpstr>
      <vt:lpstr>Word2Vec</vt:lpstr>
      <vt:lpstr>Co zrobić? – stała długość rekordu</vt:lpstr>
      <vt:lpstr>Doc2Vec – reprezentacja dokumentów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Hubert Orlicki</dc:creator>
  <cp:lastModifiedBy>Hubert Orlicki</cp:lastModifiedBy>
  <cp:revision>32</cp:revision>
  <dcterms:created xsi:type="dcterms:W3CDTF">2025-10-21T18:07:56Z</dcterms:created>
  <dcterms:modified xsi:type="dcterms:W3CDTF">2025-10-21T18:33:39Z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0x010100C9BB786FF68C4F4489610E14B800F038</vt:lpwstr>
  </property>
</Properties>
</file>
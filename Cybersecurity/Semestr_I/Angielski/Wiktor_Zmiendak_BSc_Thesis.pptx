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League Spartan" panose="020B0604020202020204" charset="-18"/>
      <p:regular r:id="rId13"/>
    </p:embeddedFont>
    <p:embeddedFont>
      <p:font typeface="Roboto" panose="02000000000000000000" pitchFamily="2" charset="0"/>
      <p:regular r:id="rId14"/>
    </p:embeddedFont>
    <p:embeddedFont>
      <p:font typeface="Roboto Bold" panose="02000000000000000000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TextBox 3"/>
          <p:cNvSpPr txBox="1"/>
          <p:nvPr/>
        </p:nvSpPr>
        <p:spPr>
          <a:xfrm>
            <a:off x="2811152" y="4413250"/>
            <a:ext cx="12665696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pl-PL" sz="3999" b="1" dirty="0">
                <a:solidFill>
                  <a:srgbClr val="004AAD"/>
                </a:solidFill>
                <a:latin typeface="Roboto Bold"/>
                <a:ea typeface="Roboto Bold"/>
                <a:cs typeface="Roboto Bold"/>
                <a:sym typeface="Roboto Bold"/>
              </a:rPr>
              <a:t>BLOCKCHAIN-BASED ELECTRONIC VOTING APP</a:t>
            </a:r>
            <a:endParaRPr lang="en-US" sz="3999" b="1" dirty="0">
              <a:solidFill>
                <a:srgbClr val="004AAD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-1269096" y="4057750"/>
            <a:ext cx="3086100" cy="2171499"/>
            <a:chOff x="0" y="0"/>
            <a:chExt cx="812800" cy="5719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681350" y="952500"/>
            <a:ext cx="12925301" cy="1790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4"/>
              </a:lnSpc>
            </a:pPr>
            <a:r>
              <a:rPr lang="en-US" sz="3396" dirty="0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DEPARTMENT OF COMPUTER SCIENCEFACULTY OF COMPUTER SCIENCE AND MATHEMATICSKRAKOW UNIVERSITY OF TECHNOLOGY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80587" y="6868160"/>
            <a:ext cx="8526827" cy="241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Wiktor Zmiendak</a:t>
            </a:r>
          </a:p>
          <a:p>
            <a:pPr algn="ctr">
              <a:lnSpc>
                <a:spcPts val="4759"/>
              </a:lnSpc>
            </a:pPr>
            <a:r>
              <a:rPr lang="pl-PL" sz="3399" dirty="0" err="1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Supervisor</a:t>
            </a:r>
            <a:r>
              <a:rPr lang="en-US" sz="3399" dirty="0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: Dr Marcin </a:t>
            </a:r>
            <a:r>
              <a:rPr lang="en-US" sz="3399" dirty="0" err="1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Wątorek</a:t>
            </a:r>
            <a:endParaRPr lang="en-US" sz="3399" dirty="0">
              <a:solidFill>
                <a:srgbClr val="303642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303642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pl-PL" sz="3399" dirty="0" err="1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Cracow</a:t>
            </a:r>
            <a:r>
              <a:rPr lang="en-US" sz="3399" dirty="0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 2026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6467343" y="4057750"/>
            <a:ext cx="3086100" cy="2171499"/>
            <a:chOff x="0" y="0"/>
            <a:chExt cx="812800" cy="5719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TextBox 3"/>
          <p:cNvSpPr txBox="1"/>
          <p:nvPr/>
        </p:nvSpPr>
        <p:spPr>
          <a:xfrm>
            <a:off x="7819576" y="603813"/>
            <a:ext cx="9656972" cy="1166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004AAD"/>
                </a:solidFill>
                <a:latin typeface="Roboto Bold"/>
                <a:ea typeface="Roboto Bold"/>
                <a:cs typeface="Roboto Bold"/>
                <a:sym typeface="Roboto Bold"/>
              </a:rPr>
              <a:t>PURPOSE AND SCOPE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5726" y="2613890"/>
            <a:ext cx="8464673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Creation of a fully functional web application for conducting online elections and surveys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96645" y="4817493"/>
            <a:ext cx="6902834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Creating a secure voting system without the need to create accounts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1889688"/>
            <a:ext cx="5585782" cy="7368612"/>
            <a:chOff x="0" y="0"/>
            <a:chExt cx="1731795" cy="22845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31795" cy="2284537"/>
            </a:xfrm>
            <a:custGeom>
              <a:avLst/>
              <a:gdLst/>
              <a:ahLst/>
              <a:cxnLst/>
              <a:rect l="l" t="t" r="r" b="b"/>
              <a:pathLst>
                <a:path w="1731795" h="2284537">
                  <a:moveTo>
                    <a:pt x="70686" y="0"/>
                  </a:moveTo>
                  <a:lnTo>
                    <a:pt x="1661109" y="0"/>
                  </a:lnTo>
                  <a:cubicBezTo>
                    <a:pt x="1700148" y="0"/>
                    <a:pt x="1731795" y="31647"/>
                    <a:pt x="1731795" y="70686"/>
                  </a:cubicBezTo>
                  <a:lnTo>
                    <a:pt x="1731795" y="2213851"/>
                  </a:lnTo>
                  <a:cubicBezTo>
                    <a:pt x="1731795" y="2252889"/>
                    <a:pt x="1700148" y="2284537"/>
                    <a:pt x="1661109" y="2284537"/>
                  </a:cubicBezTo>
                  <a:lnTo>
                    <a:pt x="70686" y="2284537"/>
                  </a:lnTo>
                  <a:cubicBezTo>
                    <a:pt x="31647" y="2284537"/>
                    <a:pt x="0" y="2252889"/>
                    <a:pt x="0" y="2213851"/>
                  </a:cubicBezTo>
                  <a:lnTo>
                    <a:pt x="0" y="70686"/>
                  </a:lnTo>
                  <a:cubicBezTo>
                    <a:pt x="0" y="31647"/>
                    <a:pt x="31647" y="0"/>
                    <a:pt x="70686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731795" cy="2332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20940" y="2569542"/>
            <a:ext cx="1587084" cy="158708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820940" y="4781237"/>
            <a:ext cx="1587084" cy="158708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820940" y="6991362"/>
            <a:ext cx="1587084" cy="158708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918390" y="2825543"/>
            <a:ext cx="1392184" cy="112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46"/>
              </a:lnSpc>
            </a:pPr>
            <a:r>
              <a:rPr lang="en-US" sz="667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18390" y="5029147"/>
            <a:ext cx="1392184" cy="112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46"/>
              </a:lnSpc>
            </a:pPr>
            <a:r>
              <a:rPr lang="en-US" sz="6676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18390" y="7239744"/>
            <a:ext cx="1392184" cy="112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46"/>
              </a:lnSpc>
            </a:pPr>
            <a:r>
              <a:rPr lang="en-US" sz="667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29474" y="7213404"/>
            <a:ext cx="6837177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Using blockchain networks to record and read votes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03384" y="3101252"/>
            <a:ext cx="3760888" cy="583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pl-PL" sz="35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Web </a:t>
            </a:r>
            <a:r>
              <a:rPr lang="pl-PL" sz="3500" b="1" dirty="0" err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application</a:t>
            </a:r>
            <a:endParaRPr lang="en-US" sz="3500" b="1" dirty="0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85223" y="5223157"/>
            <a:ext cx="3997211" cy="583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pl-PL" sz="3500" b="1" dirty="0" err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Voting</a:t>
            </a:r>
            <a:r>
              <a:rPr lang="pl-PL" sz="35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system</a:t>
            </a:r>
            <a:endParaRPr lang="en-US" sz="3500" b="1" dirty="0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85589" y="7434067"/>
            <a:ext cx="4396478" cy="1211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pl-PL" sz="35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Integration with </a:t>
            </a:r>
            <a:r>
              <a:rPr lang="pl-PL" sz="3500" b="1" dirty="0" err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Ethereum</a:t>
            </a:r>
            <a:endParaRPr lang="en-US" sz="3500" b="1" dirty="0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14197957" y="0"/>
            <a:ext cx="4090043" cy="10287000"/>
            <a:chOff x="0" y="0"/>
            <a:chExt cx="107721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77213" cy="2709333"/>
            </a:xfrm>
            <a:custGeom>
              <a:avLst/>
              <a:gdLst/>
              <a:ahLst/>
              <a:cxnLst/>
              <a:rect l="l" t="t" r="r" b="b"/>
              <a:pathLst>
                <a:path w="1077213" h="2709333">
                  <a:moveTo>
                    <a:pt x="0" y="0"/>
                  </a:moveTo>
                  <a:lnTo>
                    <a:pt x="1077213" y="0"/>
                  </a:lnTo>
                  <a:lnTo>
                    <a:pt x="107721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7721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602253" y="2254506"/>
            <a:ext cx="1191408" cy="119140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02253" y="3914804"/>
            <a:ext cx="1191408" cy="119140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02253" y="5573923"/>
            <a:ext cx="1191408" cy="119140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970541" y="2006345"/>
            <a:ext cx="1601933" cy="6466659"/>
            <a:chOff x="0" y="0"/>
            <a:chExt cx="421908" cy="170315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675407" y="2444388"/>
            <a:ext cx="1045099" cy="850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6"/>
              </a:lnSpc>
            </a:pPr>
            <a:r>
              <a:rPr lang="en-US" sz="501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75407" y="4098611"/>
            <a:ext cx="1045099" cy="850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6"/>
              </a:lnSpc>
            </a:pPr>
            <a:r>
              <a:rPr lang="en-US" sz="5011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675407" y="5758085"/>
            <a:ext cx="1045099" cy="850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6"/>
              </a:lnSpc>
            </a:pPr>
            <a:r>
              <a:rPr lang="en-US" sz="501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89899" y="2545410"/>
            <a:ext cx="10915719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pl-PL" sz="3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Blockchain</a:t>
            </a:r>
            <a:r>
              <a:rPr lang="pl-PL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l-PL" sz="3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technology</a:t>
            </a:r>
            <a:endParaRPr lang="en-US" sz="30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173575" y="7584056"/>
            <a:ext cx="5948366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Testn</a:t>
            </a:r>
            <a:r>
              <a:rPr lang="pl-PL" sz="3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ets</a:t>
            </a:r>
            <a:r>
              <a:rPr lang="pl-PL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and</a:t>
            </a:r>
            <a:r>
              <a:rPr lang="en-US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fauceting</a:t>
            </a:r>
            <a:endParaRPr lang="en-US" sz="30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11377" y="526708"/>
            <a:ext cx="13872763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1" dirty="0">
                <a:solidFill>
                  <a:srgbClr val="004AAD"/>
                </a:solidFill>
                <a:latin typeface="Roboto Bold"/>
                <a:ea typeface="Roboto Bold"/>
                <a:cs typeface="Roboto Bold"/>
                <a:sym typeface="Roboto Bold"/>
              </a:rPr>
              <a:t>MAIN ISSUES OF THE WORK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438506" y="4273555"/>
            <a:ext cx="735663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Smart contracts and the Solidity language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3602253" y="7232056"/>
            <a:ext cx="1191408" cy="1191408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3675407" y="7416218"/>
            <a:ext cx="1045099" cy="850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6"/>
              </a:lnSpc>
            </a:pPr>
            <a:r>
              <a:rPr lang="en-US" sz="501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3602253" y="8890189"/>
            <a:ext cx="1191408" cy="1191408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3675407" y="9074351"/>
            <a:ext cx="1045099" cy="850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6"/>
              </a:lnSpc>
            </a:pPr>
            <a:r>
              <a:rPr lang="en-US" sz="501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844767" y="5863058"/>
            <a:ext cx="6605983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Relayer</a:t>
            </a:r>
            <a:r>
              <a:rPr lang="en-US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l-PL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-US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meta trans</a:t>
            </a:r>
            <a:r>
              <a:rPr lang="pl-PL" sz="3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actions</a:t>
            </a:r>
            <a:endParaRPr lang="en-US" sz="30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2584732" y="9181093"/>
            <a:ext cx="9126052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Signing a vote using private keys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7416165" y="429700"/>
            <a:ext cx="5246370" cy="524637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0" y="3175000"/>
                  </a:moveTo>
                  <a:cubicBezTo>
                    <a:pt x="0" y="4928870"/>
                    <a:pt x="1421130" y="6350000"/>
                    <a:pt x="3175000" y="6350000"/>
                  </a:cubicBezTo>
                  <a:lnTo>
                    <a:pt x="6350000" y="6350000"/>
                  </a:lnTo>
                  <a:lnTo>
                    <a:pt x="6350000" y="3175000"/>
                  </a:lnTo>
                  <a:cubicBezTo>
                    <a:pt x="6350000" y="1421130"/>
                    <a:pt x="4928870" y="0"/>
                    <a:pt x="3175000" y="0"/>
                  </a:cubicBezTo>
                  <a:cubicBezTo>
                    <a:pt x="1421130" y="0"/>
                    <a:pt x="0" y="1421130"/>
                    <a:pt x="0" y="317500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Freeform 5"/>
            <p:cNvSpPr/>
            <p:nvPr/>
          </p:nvSpPr>
          <p:spPr>
            <a:xfrm>
              <a:off x="391160" y="364490"/>
              <a:ext cx="5619750" cy="5621020"/>
            </a:xfrm>
            <a:custGeom>
              <a:avLst/>
              <a:gdLst/>
              <a:ahLst/>
              <a:cxnLst/>
              <a:rect l="l" t="t" r="r" b="b"/>
              <a:pathLst>
                <a:path w="5619750" h="5621020">
                  <a:moveTo>
                    <a:pt x="2810510" y="0"/>
                  </a:moveTo>
                  <a:cubicBezTo>
                    <a:pt x="4362450" y="0"/>
                    <a:pt x="5619750" y="1258570"/>
                    <a:pt x="5619750" y="2810510"/>
                  </a:cubicBezTo>
                  <a:cubicBezTo>
                    <a:pt x="5619750" y="4362450"/>
                    <a:pt x="4361180" y="5621020"/>
                    <a:pt x="2810510" y="5621020"/>
                  </a:cubicBezTo>
                  <a:cubicBezTo>
                    <a:pt x="1258570" y="5621020"/>
                    <a:pt x="0" y="4362450"/>
                    <a:pt x="0" y="2810510"/>
                  </a:cubicBezTo>
                  <a:cubicBezTo>
                    <a:pt x="1270" y="1258570"/>
                    <a:pt x="1258570" y="0"/>
                    <a:pt x="2810510" y="0"/>
                  </a:cubicBezTo>
                  <a:close/>
                </a:path>
              </a:pathLst>
            </a:custGeom>
            <a:blipFill>
              <a:blip r:embed="rId3"/>
              <a:stretch>
                <a:fillRect l="-11" r="-11"/>
              </a:stretch>
            </a:blipFill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2776835" y="4610930"/>
            <a:ext cx="5246370" cy="5246370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Freeform 8"/>
            <p:cNvSpPr/>
            <p:nvPr/>
          </p:nvSpPr>
          <p:spPr>
            <a:xfrm>
              <a:off x="325223" y="364462"/>
              <a:ext cx="5646214" cy="5621077"/>
            </a:xfrm>
            <a:custGeom>
              <a:avLst/>
              <a:gdLst/>
              <a:ahLst/>
              <a:cxnLst/>
              <a:rect l="l" t="t" r="r" b="b"/>
              <a:pathLst>
                <a:path w="5646214" h="5621077">
                  <a:moveTo>
                    <a:pt x="2823107" y="28"/>
                  </a:moveTo>
                  <a:cubicBezTo>
                    <a:pt x="1816014" y="-4476"/>
                    <a:pt x="883489" y="530217"/>
                    <a:pt x="378638" y="1401642"/>
                  </a:cubicBezTo>
                  <a:cubicBezTo>
                    <a:pt x="-126213" y="2273067"/>
                    <a:pt x="-126213" y="3348009"/>
                    <a:pt x="378638" y="4219434"/>
                  </a:cubicBezTo>
                  <a:cubicBezTo>
                    <a:pt x="883489" y="5090859"/>
                    <a:pt x="1816014" y="5625552"/>
                    <a:pt x="2823107" y="5621048"/>
                  </a:cubicBezTo>
                  <a:cubicBezTo>
                    <a:pt x="3830200" y="5625552"/>
                    <a:pt x="4762725" y="5090859"/>
                    <a:pt x="5267576" y="4219434"/>
                  </a:cubicBezTo>
                  <a:cubicBezTo>
                    <a:pt x="5772427" y="3348009"/>
                    <a:pt x="5772427" y="2273067"/>
                    <a:pt x="5267576" y="1401642"/>
                  </a:cubicBezTo>
                  <a:cubicBezTo>
                    <a:pt x="4762725" y="530217"/>
                    <a:pt x="3830200" y="-4476"/>
                    <a:pt x="2823107" y="28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4076285"/>
            <a:ext cx="6637203" cy="157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Follow My Vote </a:t>
            </a:r>
            <a:r>
              <a:rPr lang="en-US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pl-PL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inactive voting platform that allowed users to view their votes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400385"/>
            <a:ext cx="7137697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Horizon State </a:t>
            </a:r>
            <a:r>
              <a:rPr lang="pl-PL" sz="30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- </a:t>
            </a:r>
            <a:r>
              <a:rPr lang="en-US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also an inactive platform for conducting elections and consultations on their conduct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3559" y="901285"/>
            <a:ext cx="7284856" cy="245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1" dirty="0">
                <a:solidFill>
                  <a:srgbClr val="004AAD"/>
                </a:solidFill>
                <a:latin typeface="Roboto Bold"/>
                <a:ea typeface="Roboto Bold"/>
                <a:cs typeface="Roboto Bold"/>
                <a:sym typeface="Roboto Bold"/>
              </a:rPr>
              <a:t>SIMILAR SOLUTIONS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8724900"/>
            <a:ext cx="8147608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pl-PL" sz="3000" b="1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Other</a:t>
            </a:r>
            <a:r>
              <a:rPr lang="pl-PL" sz="30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pl-PL" sz="3000" b="1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tools</a:t>
            </a:r>
            <a:r>
              <a:rPr lang="en-US" sz="30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:</a:t>
            </a:r>
            <a:r>
              <a:rPr lang="en-US" sz="3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poll-maker, google forms, </a:t>
            </a:r>
            <a:r>
              <a:rPr lang="en-US" sz="30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survio</a:t>
            </a:r>
            <a:endParaRPr lang="en-US" sz="30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Freeform 3"/>
          <p:cNvSpPr/>
          <p:nvPr/>
        </p:nvSpPr>
        <p:spPr>
          <a:xfrm>
            <a:off x="2757714" y="2249191"/>
            <a:ext cx="12772571" cy="7440023"/>
          </a:xfrm>
          <a:custGeom>
            <a:avLst/>
            <a:gdLst/>
            <a:ahLst/>
            <a:cxnLst/>
            <a:rect l="l" t="t" r="r" b="b"/>
            <a:pathLst>
              <a:path w="12772571" h="7440023">
                <a:moveTo>
                  <a:pt x="0" y="0"/>
                </a:moveTo>
                <a:lnTo>
                  <a:pt x="12772572" y="0"/>
                </a:lnTo>
                <a:lnTo>
                  <a:pt x="12772572" y="7440023"/>
                </a:lnTo>
                <a:lnTo>
                  <a:pt x="0" y="74400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" name="TextBox 4"/>
          <p:cNvSpPr txBox="1"/>
          <p:nvPr/>
        </p:nvSpPr>
        <p:spPr>
          <a:xfrm>
            <a:off x="2207619" y="616168"/>
            <a:ext cx="13872763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1" dirty="0">
                <a:solidFill>
                  <a:srgbClr val="004AAD"/>
                </a:solidFill>
                <a:latin typeface="Roboto Bold"/>
                <a:ea typeface="Roboto Bold"/>
                <a:cs typeface="Roboto Bold"/>
                <a:sym typeface="Roboto Bold"/>
              </a:rPr>
              <a:t>ETHERVOTE</a:t>
            </a:r>
            <a:r>
              <a:rPr lang="pl-PL" sz="7000" b="1" dirty="0">
                <a:solidFill>
                  <a:srgbClr val="004AAD"/>
                </a:solidFill>
                <a:latin typeface="Roboto Bold"/>
                <a:ea typeface="Roboto Bold"/>
                <a:cs typeface="Roboto Bold"/>
                <a:sym typeface="Roboto Bold"/>
              </a:rPr>
              <a:t> APP</a:t>
            </a:r>
            <a:endParaRPr lang="en-US" sz="7000" b="1" dirty="0">
              <a:solidFill>
                <a:srgbClr val="004AAD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Freeform 3"/>
          <p:cNvSpPr/>
          <p:nvPr/>
        </p:nvSpPr>
        <p:spPr>
          <a:xfrm>
            <a:off x="135820" y="2872983"/>
            <a:ext cx="6565605" cy="4728925"/>
          </a:xfrm>
          <a:custGeom>
            <a:avLst/>
            <a:gdLst/>
            <a:ahLst/>
            <a:cxnLst/>
            <a:rect l="l" t="t" r="r" b="b"/>
            <a:pathLst>
              <a:path w="6565605" h="4728925">
                <a:moveTo>
                  <a:pt x="0" y="0"/>
                </a:moveTo>
                <a:lnTo>
                  <a:pt x="6565605" y="0"/>
                </a:lnTo>
                <a:lnTo>
                  <a:pt x="6565605" y="4728925"/>
                </a:lnTo>
                <a:lnTo>
                  <a:pt x="0" y="4728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" name="Freeform 4"/>
          <p:cNvSpPr/>
          <p:nvPr/>
        </p:nvSpPr>
        <p:spPr>
          <a:xfrm>
            <a:off x="6816682" y="4469392"/>
            <a:ext cx="11301259" cy="4788908"/>
          </a:xfrm>
          <a:custGeom>
            <a:avLst/>
            <a:gdLst/>
            <a:ahLst/>
            <a:cxnLst/>
            <a:rect l="l" t="t" r="r" b="b"/>
            <a:pathLst>
              <a:path w="11301259" h="4788908">
                <a:moveTo>
                  <a:pt x="0" y="0"/>
                </a:moveTo>
                <a:lnTo>
                  <a:pt x="11301259" y="0"/>
                </a:lnTo>
                <a:lnTo>
                  <a:pt x="11301259" y="4788908"/>
                </a:lnTo>
                <a:lnTo>
                  <a:pt x="0" y="4788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5" name="TextBox 5"/>
          <p:cNvSpPr txBox="1"/>
          <p:nvPr/>
        </p:nvSpPr>
        <p:spPr>
          <a:xfrm>
            <a:off x="2207618" y="689302"/>
            <a:ext cx="13872763" cy="1166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1" dirty="0">
                <a:solidFill>
                  <a:srgbClr val="004AAD"/>
                </a:solidFill>
                <a:latin typeface="Roboto Bold"/>
                <a:ea typeface="Roboto Bold"/>
                <a:cs typeface="Roboto Bold"/>
                <a:sym typeface="Roboto Bold"/>
              </a:rPr>
              <a:t>ADMINISTRATIVE POINT OF 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Freeform 3"/>
          <p:cNvSpPr/>
          <p:nvPr/>
        </p:nvSpPr>
        <p:spPr>
          <a:xfrm>
            <a:off x="652611" y="2818264"/>
            <a:ext cx="8491389" cy="5869673"/>
          </a:xfrm>
          <a:custGeom>
            <a:avLst/>
            <a:gdLst/>
            <a:ahLst/>
            <a:cxnLst/>
            <a:rect l="l" t="t" r="r" b="b"/>
            <a:pathLst>
              <a:path w="8491389" h="5869673">
                <a:moveTo>
                  <a:pt x="0" y="0"/>
                </a:moveTo>
                <a:lnTo>
                  <a:pt x="8491389" y="0"/>
                </a:lnTo>
                <a:lnTo>
                  <a:pt x="8491389" y="5869672"/>
                </a:lnTo>
                <a:lnTo>
                  <a:pt x="0" y="5869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" name="Freeform 4"/>
          <p:cNvSpPr/>
          <p:nvPr/>
        </p:nvSpPr>
        <p:spPr>
          <a:xfrm>
            <a:off x="9144000" y="2818264"/>
            <a:ext cx="8691725" cy="5834320"/>
          </a:xfrm>
          <a:custGeom>
            <a:avLst/>
            <a:gdLst/>
            <a:ahLst/>
            <a:cxnLst/>
            <a:rect l="l" t="t" r="r" b="b"/>
            <a:pathLst>
              <a:path w="8691725" h="5834320">
                <a:moveTo>
                  <a:pt x="0" y="0"/>
                </a:moveTo>
                <a:lnTo>
                  <a:pt x="8691725" y="0"/>
                </a:lnTo>
                <a:lnTo>
                  <a:pt x="8691725" y="5834320"/>
                </a:lnTo>
                <a:lnTo>
                  <a:pt x="0" y="583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5" name="TextBox 5"/>
          <p:cNvSpPr txBox="1"/>
          <p:nvPr/>
        </p:nvSpPr>
        <p:spPr>
          <a:xfrm>
            <a:off x="2207619" y="604017"/>
            <a:ext cx="13872763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1" dirty="0">
                <a:solidFill>
                  <a:srgbClr val="004AAD"/>
                </a:solidFill>
                <a:latin typeface="Roboto Bold"/>
                <a:ea typeface="Roboto Bold"/>
                <a:cs typeface="Roboto Bold"/>
                <a:sym typeface="Roboto Bold"/>
              </a:rPr>
              <a:t>THE USER'S POINT OF 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Freeform 3"/>
          <p:cNvSpPr/>
          <p:nvPr/>
        </p:nvSpPr>
        <p:spPr>
          <a:xfrm>
            <a:off x="9562106" y="3065625"/>
            <a:ext cx="7697194" cy="5330065"/>
          </a:xfrm>
          <a:custGeom>
            <a:avLst/>
            <a:gdLst/>
            <a:ahLst/>
            <a:cxnLst/>
            <a:rect l="l" t="t" r="r" b="b"/>
            <a:pathLst>
              <a:path w="7697194" h="5330065">
                <a:moveTo>
                  <a:pt x="0" y="0"/>
                </a:moveTo>
                <a:lnTo>
                  <a:pt x="7697194" y="0"/>
                </a:lnTo>
                <a:lnTo>
                  <a:pt x="7697194" y="5330065"/>
                </a:lnTo>
                <a:lnTo>
                  <a:pt x="0" y="53300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" name="Freeform 4"/>
          <p:cNvSpPr/>
          <p:nvPr/>
        </p:nvSpPr>
        <p:spPr>
          <a:xfrm>
            <a:off x="507790" y="3065625"/>
            <a:ext cx="8324139" cy="5596600"/>
          </a:xfrm>
          <a:custGeom>
            <a:avLst/>
            <a:gdLst/>
            <a:ahLst/>
            <a:cxnLst/>
            <a:rect l="l" t="t" r="r" b="b"/>
            <a:pathLst>
              <a:path w="8324139" h="5596600">
                <a:moveTo>
                  <a:pt x="0" y="0"/>
                </a:moveTo>
                <a:lnTo>
                  <a:pt x="8324139" y="0"/>
                </a:lnTo>
                <a:lnTo>
                  <a:pt x="8324139" y="5596600"/>
                </a:lnTo>
                <a:lnTo>
                  <a:pt x="0" y="5596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5" name="TextBox 5"/>
          <p:cNvSpPr txBox="1"/>
          <p:nvPr/>
        </p:nvSpPr>
        <p:spPr>
          <a:xfrm>
            <a:off x="2207619" y="604017"/>
            <a:ext cx="13872763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1" dirty="0">
                <a:solidFill>
                  <a:srgbClr val="004AAD"/>
                </a:solidFill>
                <a:latin typeface="Roboto Bold"/>
                <a:ea typeface="Roboto Bold"/>
                <a:cs typeface="Roboto Bold"/>
                <a:sym typeface="Roboto Bold"/>
              </a:rPr>
              <a:t>THE USER'S POINT OF 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" name="Freeform 3"/>
          <p:cNvSpPr/>
          <p:nvPr/>
        </p:nvSpPr>
        <p:spPr>
          <a:xfrm>
            <a:off x="413460" y="3204364"/>
            <a:ext cx="8730540" cy="5827635"/>
          </a:xfrm>
          <a:custGeom>
            <a:avLst/>
            <a:gdLst/>
            <a:ahLst/>
            <a:cxnLst/>
            <a:rect l="l" t="t" r="r" b="b"/>
            <a:pathLst>
              <a:path w="8730540" h="5827635">
                <a:moveTo>
                  <a:pt x="0" y="0"/>
                </a:moveTo>
                <a:lnTo>
                  <a:pt x="8730540" y="0"/>
                </a:lnTo>
                <a:lnTo>
                  <a:pt x="8730540" y="5827635"/>
                </a:lnTo>
                <a:lnTo>
                  <a:pt x="0" y="5827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4" name="Freeform 4"/>
          <p:cNvSpPr/>
          <p:nvPr/>
        </p:nvSpPr>
        <p:spPr>
          <a:xfrm>
            <a:off x="9266959" y="3204364"/>
            <a:ext cx="8678877" cy="5836545"/>
          </a:xfrm>
          <a:custGeom>
            <a:avLst/>
            <a:gdLst/>
            <a:ahLst/>
            <a:cxnLst/>
            <a:rect l="l" t="t" r="r" b="b"/>
            <a:pathLst>
              <a:path w="8678877" h="5836545">
                <a:moveTo>
                  <a:pt x="0" y="0"/>
                </a:moveTo>
                <a:lnTo>
                  <a:pt x="8678876" y="0"/>
                </a:lnTo>
                <a:lnTo>
                  <a:pt x="8678876" y="5836544"/>
                </a:lnTo>
                <a:lnTo>
                  <a:pt x="0" y="5836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5" name="TextBox 5"/>
          <p:cNvSpPr txBox="1"/>
          <p:nvPr/>
        </p:nvSpPr>
        <p:spPr>
          <a:xfrm>
            <a:off x="2207619" y="604017"/>
            <a:ext cx="13872763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1" dirty="0">
                <a:solidFill>
                  <a:srgbClr val="004AAD"/>
                </a:solidFill>
                <a:latin typeface="Roboto Bold"/>
                <a:ea typeface="Roboto Bold"/>
                <a:cs typeface="Roboto Bold"/>
                <a:sym typeface="Roboto Bold"/>
              </a:rPr>
              <a:t>THE USER'S POINT OF 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257175" y="4502250"/>
            <a:ext cx="18802350" cy="2006600"/>
            <a:chOff x="0" y="0"/>
            <a:chExt cx="4952059" cy="5284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52059" cy="528487"/>
            </a:xfrm>
            <a:custGeom>
              <a:avLst/>
              <a:gdLst/>
              <a:ahLst/>
              <a:cxnLst/>
              <a:rect l="l" t="t" r="r" b="b"/>
              <a:pathLst>
                <a:path w="4952059" h="528487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76878" y="5253615"/>
            <a:ext cx="3263886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Public voting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4440" y="5261660"/>
            <a:ext cx="4579119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Schools and universities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9971" y="7347050"/>
            <a:ext cx="4517700" cy="157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Local referendums</a:t>
            </a:r>
            <a:endParaRPr lang="pl-PL" sz="3000" dirty="0">
              <a:solidFill>
                <a:srgbClr val="3036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47700" lvl="1" indent="-323850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Local elections</a:t>
            </a:r>
            <a:endParaRPr lang="pl-PL" sz="3000" dirty="0">
              <a:solidFill>
                <a:srgbClr val="3036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47700" lvl="1" indent="-323850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Public consultations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12033" y="7268260"/>
            <a:ext cx="5165802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Student council elections</a:t>
            </a:r>
            <a:endParaRPr lang="pl-PL" sz="3000" dirty="0">
              <a:solidFill>
                <a:srgbClr val="3036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47700" lvl="1" indent="-323850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Student surveys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79704" y="7268260"/>
            <a:ext cx="7098875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Employee opinion survey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07619" y="1332209"/>
            <a:ext cx="13872763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1" dirty="0">
                <a:solidFill>
                  <a:srgbClr val="004AAD"/>
                </a:solidFill>
                <a:latin typeface="Roboto Bold"/>
                <a:ea typeface="Roboto Bold"/>
                <a:cs typeface="Roboto Bold"/>
                <a:sym typeface="Roboto Bold"/>
              </a:rPr>
              <a:t>APPLICATIONS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51125" y="4992355"/>
            <a:ext cx="4579119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Social organizations, associations, corporations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pl-PL"/>
          </a:p>
        </p:txBody>
      </p:sp>
      <p:grpSp>
        <p:nvGrpSpPr>
          <p:cNvPr id="3" name="Group 3"/>
          <p:cNvGrpSpPr/>
          <p:nvPr/>
        </p:nvGrpSpPr>
        <p:grpSpPr>
          <a:xfrm>
            <a:off x="-768959" y="4477111"/>
            <a:ext cx="5245100" cy="1332778"/>
            <a:chOff x="0" y="0"/>
            <a:chExt cx="1381426" cy="3510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1426" cy="351020"/>
            </a:xfrm>
            <a:custGeom>
              <a:avLst/>
              <a:gdLst/>
              <a:ahLst/>
              <a:cxnLst/>
              <a:rect l="l" t="t" r="r" b="b"/>
              <a:pathLst>
                <a:path w="1381426" h="351020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11903" y="4477111"/>
            <a:ext cx="5118100" cy="1332778"/>
            <a:chOff x="0" y="0"/>
            <a:chExt cx="1347977" cy="3510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7977" cy="351020"/>
            </a:xfrm>
            <a:custGeom>
              <a:avLst/>
              <a:gdLst/>
              <a:ahLst/>
              <a:cxnLst/>
              <a:rect l="l" t="t" r="r" b="b"/>
              <a:pathLst>
                <a:path w="1347977" h="351020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33297" y="3784368"/>
            <a:ext cx="8421405" cy="2423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pl-PL" sz="6999" b="1" dirty="0">
                <a:solidFill>
                  <a:srgbClr val="004AAD"/>
                </a:solidFill>
                <a:latin typeface="Roboto Bold"/>
                <a:ea typeface="Roboto Bold"/>
                <a:cs typeface="Roboto Bold"/>
                <a:sym typeface="Roboto Bold"/>
              </a:rPr>
              <a:t>THANK</a:t>
            </a:r>
          </a:p>
          <a:p>
            <a:pPr algn="ctr">
              <a:lnSpc>
                <a:spcPts val="9799"/>
              </a:lnSpc>
            </a:pPr>
            <a:r>
              <a:rPr lang="pl-PL" sz="6999" b="1" dirty="0">
                <a:solidFill>
                  <a:srgbClr val="004AAD"/>
                </a:solidFill>
                <a:latin typeface="Roboto Bold"/>
                <a:ea typeface="Roboto Bold"/>
                <a:cs typeface="Roboto Bold"/>
                <a:sym typeface="Roboto Bold"/>
              </a:rPr>
              <a:t>YOU</a:t>
            </a:r>
            <a:endParaRPr lang="en-US" sz="6999" b="1" dirty="0">
              <a:solidFill>
                <a:srgbClr val="004AAD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192</Words>
  <Application>Microsoft Office PowerPoint</Application>
  <PresentationFormat>Niestandardowy</PresentationFormat>
  <Paragraphs>48</Paragraphs>
  <Slides>11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7" baseType="lpstr">
      <vt:lpstr>Calibri</vt:lpstr>
      <vt:lpstr>League Spartan</vt:lpstr>
      <vt:lpstr>Arial</vt:lpstr>
      <vt:lpstr>Roboto Bold</vt:lpstr>
      <vt:lpstr>Roboto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Prezentacja_pracy_inżynierskiej</dc:title>
  <cp:lastModifiedBy>Wiktor Zmiendak</cp:lastModifiedBy>
  <cp:revision>13</cp:revision>
  <dcterms:created xsi:type="dcterms:W3CDTF">2006-08-16T00:00:00Z</dcterms:created>
  <dcterms:modified xsi:type="dcterms:W3CDTF">2026-02-23T18:14:24Z</dcterms:modified>
  <dc:identifier>DAG-M3dNhAg</dc:identifier>
</cp:coreProperties>
</file>